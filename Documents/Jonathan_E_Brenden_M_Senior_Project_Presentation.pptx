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23"/>
  </p:notesMasterIdLst>
  <p:handoutMasterIdLst>
    <p:handoutMasterId r:id="rId24"/>
  </p:handoutMasterIdLst>
  <p:sldIdLst>
    <p:sldId id="258" r:id="rId5"/>
    <p:sldId id="259" r:id="rId6"/>
    <p:sldId id="260" r:id="rId7"/>
    <p:sldId id="261" r:id="rId8"/>
    <p:sldId id="262" r:id="rId9"/>
    <p:sldId id="267" r:id="rId10"/>
    <p:sldId id="266" r:id="rId11"/>
    <p:sldId id="274" r:id="rId12"/>
    <p:sldId id="275" r:id="rId13"/>
    <p:sldId id="263" r:id="rId14"/>
    <p:sldId id="264" r:id="rId15"/>
    <p:sldId id="268" r:id="rId16"/>
    <p:sldId id="271" r:id="rId17"/>
    <p:sldId id="269" r:id="rId18"/>
    <p:sldId id="272" r:id="rId19"/>
    <p:sldId id="270" r:id="rId20"/>
    <p:sldId id="273"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8E4A32-1EA3-EDB2-9535-50C2FFD5B4EA}" v="92" dt="2026-05-03T03:45:35.679"/>
    <p1510:client id="{71DE690A-089E-8E7B-9C2E-0632FBEBCA99}" v="660" dt="2026-05-03T05:16:03.627"/>
    <p1510:client id="{9404BBCE-DFE1-4AC8-91A8-C407BDD3515F}" v="2224" dt="2026-05-04T01:31:48.9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guide orient="horz" pos="2160"/>
        <p:guide pos="3840"/>
      </p:guideLst>
    </p:cSldViewPr>
  </p:slideViewPr>
  <p:notesTextViewPr>
    <p:cViewPr>
      <p:scale>
        <a:sx n="125" d="100"/>
        <a:sy n="125"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5/4/2026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Intro to who we are slide, same as before, nothing has changed</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555797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Agenda, what we are going to cover in our 12 minutes of time</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4140068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Background, at most 1 min. Very brief </a:t>
            </a:r>
            <a:r>
              <a:rPr lang="en-US">
                <a:latin typeface="Calibri"/>
                <a:ea typeface="Calibri"/>
                <a:cs typeface="Calibri"/>
              </a:rPr>
              <a:t>explanation about the motivation behind our design</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748707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What our project is and the types of </a:t>
            </a:r>
            <a:r>
              <a:rPr lang="en-US" dirty="0" err="1">
                <a:latin typeface="Calibri"/>
                <a:ea typeface="Calibri"/>
                <a:cs typeface="Calibri"/>
              </a:rPr>
              <a:t>measurments</a:t>
            </a:r>
            <a:r>
              <a:rPr lang="en-US" dirty="0">
                <a:latin typeface="Calibri"/>
                <a:ea typeface="Calibri"/>
                <a:cs typeface="Calibri"/>
              </a:rPr>
              <a:t> we can get from this design like what we should expect as our final product and how we can measure that</a:t>
            </a:r>
          </a:p>
          <a:p>
            <a:r>
              <a:rPr lang="en-US">
                <a:latin typeface="Calibri"/>
                <a:ea typeface="Calibri"/>
                <a:cs typeface="Calibri"/>
              </a:rPr>
              <a:t>Maybe be multiple slides of:</a:t>
            </a:r>
          </a:p>
          <a:p>
            <a:pPr marL="171450" indent="-171450">
              <a:buFont typeface="Calibri"/>
              <a:buChar char="-"/>
            </a:pPr>
            <a:r>
              <a:rPr lang="en-US">
                <a:latin typeface="Calibri"/>
                <a:ea typeface="Calibri"/>
                <a:cs typeface="Calibri"/>
              </a:rPr>
              <a:t>We want our project to do this</a:t>
            </a:r>
          </a:p>
          <a:p>
            <a:pPr marL="171450" indent="-171450">
              <a:buFont typeface="Calibri"/>
              <a:buChar char="-"/>
            </a:pPr>
            <a:r>
              <a:rPr lang="en-US">
                <a:latin typeface="Calibri"/>
                <a:ea typeface="Calibri"/>
                <a:cs typeface="Calibri"/>
              </a:rPr>
              <a:t>This is how we are going to achieve this</a:t>
            </a:r>
          </a:p>
          <a:p>
            <a:pPr marL="171450" indent="-171450">
              <a:buFont typeface="Calibri"/>
              <a:buChar char="-"/>
            </a:pPr>
            <a:r>
              <a:rPr lang="en-US" dirty="0">
                <a:latin typeface="Calibri"/>
                <a:ea typeface="Calibri"/>
                <a:cs typeface="Calibri"/>
              </a:rPr>
              <a:t>These are the types of </a:t>
            </a:r>
            <a:r>
              <a:rPr lang="en-US" dirty="0" err="1">
                <a:latin typeface="Calibri"/>
                <a:ea typeface="Calibri"/>
                <a:cs typeface="Calibri"/>
              </a:rPr>
              <a:t>measurments</a:t>
            </a:r>
            <a:r>
              <a:rPr lang="en-US" dirty="0">
                <a:latin typeface="Calibri"/>
                <a:ea typeface="Calibri"/>
                <a:cs typeface="Calibri"/>
              </a:rPr>
              <a:t> we can do to confirm the workings of our design</a:t>
            </a:r>
          </a:p>
          <a:p>
            <a:pPr marL="171450" indent="-171450">
              <a:buFont typeface="Calibri"/>
              <a:buChar char="-"/>
            </a:pPr>
            <a:r>
              <a:rPr lang="en-US">
                <a:latin typeface="Calibri"/>
                <a:ea typeface="Calibri"/>
                <a:cs typeface="Calibri"/>
              </a:rPr>
              <a:t>This is why we need a proof of concept with our accelerator</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905126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Go in depth about accelerator logic and the ideas behind it</a:t>
            </a:r>
          </a:p>
          <a:p>
            <a:pPr marL="171450" indent="-171450">
              <a:buFont typeface="Calibri"/>
              <a:buChar char="-"/>
            </a:pPr>
            <a:r>
              <a:rPr lang="en-US">
                <a:latin typeface="Calibri"/>
                <a:ea typeface="Calibri"/>
                <a:cs typeface="Calibri"/>
              </a:rPr>
              <a:t>Why we chose matrix multiplication (AI and whatnot)</a:t>
            </a:r>
          </a:p>
          <a:p>
            <a:pPr marL="171450" indent="-171450">
              <a:buFont typeface="Calibri"/>
              <a:buChar char="-"/>
            </a:pPr>
            <a:r>
              <a:rPr lang="en-US">
                <a:latin typeface="Calibri"/>
                <a:ea typeface="Calibri"/>
                <a:cs typeface="Calibri"/>
              </a:rPr>
              <a:t>The logic behind our accelerator</a:t>
            </a:r>
          </a:p>
          <a:p>
            <a:pPr marL="171450" indent="-171450">
              <a:buFont typeface="Calibri"/>
              <a:buChar char="-"/>
            </a:pPr>
            <a:r>
              <a:rPr lang="en-US" dirty="0">
                <a:latin typeface="Calibri"/>
                <a:ea typeface="Calibri"/>
                <a:cs typeface="Calibri"/>
              </a:rPr>
              <a:t>How it wor</a:t>
            </a:r>
            <a:r>
              <a:rPr lang="en-US">
                <a:latin typeface="Calibri"/>
                <a:ea typeface="Calibri"/>
                <a:cs typeface="Calibri"/>
              </a:rPr>
              <a:t>ks, high-level no actual code here</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21333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How we create our project, the kind of components that will give us the best option for our design</a:t>
            </a:r>
          </a:p>
          <a:p>
            <a:r>
              <a:rPr lang="en-US" dirty="0">
                <a:latin typeface="Calibri"/>
                <a:ea typeface="Calibri"/>
                <a:cs typeface="Calibri"/>
              </a:rPr>
              <a:t>We already talked about the accelerator so now its what system do we want this to be apart of, talk </a:t>
            </a:r>
            <a:r>
              <a:rPr lang="en-US" dirty="0" err="1">
                <a:latin typeface="Calibri"/>
                <a:ea typeface="Calibri"/>
                <a:cs typeface="Calibri"/>
              </a:rPr>
              <a:t>aqbout</a:t>
            </a:r>
            <a:r>
              <a:rPr lang="en-US" dirty="0">
                <a:latin typeface="Calibri"/>
                <a:ea typeface="Calibri"/>
                <a:cs typeface="Calibri"/>
              </a:rPr>
              <a:t> the components we already chose from last semester but now include what makes them better for this design as well</a:t>
            </a:r>
          </a:p>
          <a:p>
            <a:pPr marL="171450" indent="-171450">
              <a:buFont typeface="Calibri"/>
              <a:buChar char="-"/>
            </a:pPr>
            <a:r>
              <a:rPr lang="en-US" dirty="0" err="1">
                <a:latin typeface="Calibri"/>
                <a:ea typeface="Calibri"/>
                <a:cs typeface="Calibri"/>
              </a:rPr>
              <a:t>Microblaze</a:t>
            </a:r>
            <a:r>
              <a:rPr lang="en-US" dirty="0">
                <a:latin typeface="Calibri"/>
                <a:ea typeface="Calibri"/>
                <a:cs typeface="Calibri"/>
              </a:rPr>
              <a:t> has no on chip multiplier circuit</a:t>
            </a:r>
          </a:p>
          <a:p>
            <a:pPr marL="171450" indent="-171450">
              <a:buFont typeface="Calibri"/>
              <a:buChar char="-"/>
            </a:pPr>
            <a:r>
              <a:rPr lang="en-US" dirty="0">
                <a:latin typeface="Calibri"/>
                <a:ea typeface="Calibri"/>
                <a:cs typeface="Calibri"/>
              </a:rPr>
              <a:t>Very basic </a:t>
            </a:r>
            <a:r>
              <a:rPr lang="en-US" dirty="0" err="1">
                <a:latin typeface="Calibri"/>
                <a:ea typeface="Calibri"/>
                <a:cs typeface="Calibri"/>
              </a:rPr>
              <a:t>fpga</a:t>
            </a:r>
            <a:r>
              <a:rPr lang="en-US" dirty="0">
                <a:latin typeface="Calibri"/>
                <a:ea typeface="Calibri"/>
                <a:cs typeface="Calibri"/>
              </a:rPr>
              <a:t> board design</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567270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Our block diagram – simple, what our simple diagram looks like for testing</a:t>
            </a:r>
            <a:r>
              <a:rPr lang="en-US">
                <a:latin typeface="Calibri"/>
                <a:ea typeface="Calibri"/>
                <a:cs typeface="Calibri"/>
              </a:rPr>
              <a:t> and measurements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728853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Maybe detailed block diagram, this should be a what we started with and what we have now kind of thing</a:t>
            </a:r>
          </a:p>
          <a:p>
            <a:endParaRPr lang="en-US" dirty="0">
              <a:latin typeface="Calibri"/>
              <a:ea typeface="Calibri"/>
              <a:cs typeface="Calibri"/>
            </a:endParaRPr>
          </a:p>
          <a:p>
            <a:r>
              <a:rPr lang="en-US"/>
              <a:t>Go into the connections of each thing independently for more detail on how the communicate</a:t>
            </a:r>
            <a:endParaRPr lang="en-US">
              <a:solidFill>
                <a:srgbClr val="444444"/>
              </a:solidFill>
            </a:endParaRPr>
          </a:p>
          <a:p>
            <a:pPr marL="171450" indent="-171450">
              <a:buFont typeface="Calibri,Sans-Serif"/>
              <a:buChar char="-"/>
            </a:pPr>
            <a:r>
              <a:rPr lang="en-US" dirty="0"/>
              <a:t>Talk about the </a:t>
            </a:r>
            <a:r>
              <a:rPr lang="en-US" dirty="0" err="1"/>
              <a:t>axi</a:t>
            </a:r>
            <a:r>
              <a:rPr lang="en-US" dirty="0"/>
              <a:t> bus</a:t>
            </a:r>
            <a:endParaRPr lang="en-US" dirty="0">
              <a:solidFill>
                <a:srgbClr val="444444"/>
              </a:solidFill>
            </a:endParaRPr>
          </a:p>
          <a:p>
            <a:pPr marL="171450" indent="-171450">
              <a:buFont typeface="Calibri,Sans-Serif"/>
              <a:buChar char="-"/>
            </a:pPr>
            <a:r>
              <a:rPr lang="en-US"/>
              <a:t>Mention the smart connect being the home for all components to communicate with preset addresses</a:t>
            </a:r>
            <a:endParaRPr lang="en-US">
              <a:solidFill>
                <a:srgbClr val="444444"/>
              </a:solidFill>
            </a:endParaRPr>
          </a:p>
          <a:p>
            <a:pPr marL="171450" indent="-171450">
              <a:buFont typeface="Calibri,Sans-Serif"/>
              <a:buChar char="-"/>
            </a:pPr>
            <a:r>
              <a:rPr lang="en-US"/>
              <a:t>Speak on the matrix multiplication module and how we had to create it as a custom IP with AXI lite and stream connections </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175841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Testing </a:t>
            </a:r>
          </a:p>
          <a:p>
            <a:pPr marL="171450" indent="-171450">
              <a:buFont typeface="Calibri"/>
              <a:buChar char="-"/>
            </a:pPr>
            <a:r>
              <a:rPr lang="en-US" dirty="0">
                <a:latin typeface="Calibri"/>
                <a:ea typeface="Calibri"/>
                <a:cs typeface="Calibri"/>
              </a:rPr>
              <a:t>What values do we want to test to see</a:t>
            </a:r>
          </a:p>
          <a:p>
            <a:pPr marL="171450" indent="-171450">
              <a:buFont typeface="Calibri"/>
              <a:buChar char="-"/>
            </a:pPr>
            <a:r>
              <a:rPr lang="en-US" dirty="0">
                <a:latin typeface="Calibri"/>
                <a:ea typeface="Calibri"/>
                <a:cs typeface="Calibri"/>
              </a:rPr>
              <a:t>How are we going to test it (what algorithm we are going to use and how our accelerator works with it)</a:t>
            </a:r>
          </a:p>
          <a:p>
            <a:pPr marL="171450" indent="-171450">
              <a:buFont typeface="Calibri"/>
              <a:buChar char="-"/>
            </a:pPr>
            <a:r>
              <a:rPr lang="en-US" dirty="0">
                <a:latin typeface="Calibri"/>
                <a:ea typeface="Calibri"/>
                <a:cs typeface="Calibri"/>
              </a:rPr>
              <a:t>Brief overview of algorithm like a flowchart or something, This is not the main thing we want to show, this code was taken from online just modified to work with our custom hardware so make that apparent</a:t>
            </a:r>
          </a:p>
          <a:p>
            <a:pPr marL="171450" indent="-171450">
              <a:buFont typeface="Calibri"/>
              <a:buChar char="-"/>
            </a:pPr>
            <a:r>
              <a:rPr lang="en-US" dirty="0">
                <a:latin typeface="Calibri"/>
                <a:ea typeface="Calibri"/>
                <a:cs typeface="Calibri"/>
              </a:rPr>
              <a:t>What the outputs are and what each of them mean</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220494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Conclusions gathered from the test and metrics gained.</a:t>
            </a:r>
          </a:p>
          <a:p>
            <a:r>
              <a:rPr lang="en-US" dirty="0">
                <a:latin typeface="Calibri"/>
                <a:ea typeface="Calibri"/>
                <a:cs typeface="Calibri"/>
              </a:rPr>
              <a:t>Where this can be used in the future (others can take our design and make it better (pipeline it, make it parallel, instantiate more to run all in parallel) or they can test their own (import their own custom IP to test metrics))</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3019830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References</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451503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in case we get questions about it</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297162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546E1DB7-C16F-4307-ABDC-E7869C9944C5}" type="datetime1">
              <a:rPr lang="en-US" smtClean="0"/>
              <a:t>5/4/2026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5F5CDFF1-9AC1-4052-AC63-3D5B3E513E98}"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701710E3-F6B9-4870-BB6A-E43E7F5732CB}" type="datetime1">
              <a:rPr lang="en-US" smtClean="0"/>
              <a:t>5/4/2026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052585DC-58B2-4727-9B83-A694C6F5098B}" type="datetime1">
              <a:rPr lang="en-US" smtClean="0"/>
              <a:t>5/4/2026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51DA4586-2EAB-4FEC-B845-314C3E927F52}" type="datetime1">
              <a:rPr lang="en-US" smtClean="0"/>
              <a:t>5/4/2026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978FB81A-D697-4BD6-97FB-5439923E62BC}" type="datetime1">
              <a:rPr lang="en-US" smtClean="0"/>
              <a:t>5/4/2026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9DE11922-8809-451D-90DC-F287A01C3D7E}" type="datetime1">
              <a:rPr lang="en-US" smtClean="0"/>
              <a:t>5/4/2026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ED68EEA5-3463-4B63-ADE9-CC9BB911CEEC}" type="datetime1">
              <a:rPr lang="en-US" smtClean="0"/>
              <a:t>5/4/2026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A1D268E-A946-4399-9C72-565B4570685B}" type="datetime1">
              <a:rPr lang="en-US" smtClean="0"/>
              <a:t>5/4/2026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AFD1123F-1A1E-4619-B52D-BD196FF70F2E}" type="datetime1">
              <a:rPr lang="en-US" smtClean="0"/>
              <a:t>5/4/2026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3FF43CB-3A8F-45FE-AAC7-4D0387973A9B}" type="datetime1">
              <a:rPr lang="en-US" smtClean="0"/>
              <a:t>5/4/2026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008E64BB-E80C-48AF-90B1-326D04BE1B4D}"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74CA039-3ECE-44E6-ABD3-53D4A96119C9}"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9AC1C2-2412-4F69-86C7-FACDABEFF6FA}"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5FB6AB40-A89A-45D9-A258-95BD7A64E3CB}"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E7908F1-CB47-4CA6-85F5-5636A7231D9E}"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B74DA3E9-2F97-48CA-822C-C78E463D9DA9}" type="datetime1">
              <a:rPr lang="en-US" smtClean="0"/>
              <a:t>5/4/2026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5E24647-DB59-48F5-823F-050F2A3D7E92}" type="datetime1">
              <a:rPr lang="en-US" smtClean="0"/>
              <a:t>5/4/2026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DEE2ABAB-F78F-4832-84CC-99269D29D2F1}" type="datetime1">
              <a:rPr lang="en-US" smtClean="0"/>
              <a:t>5/4/2026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29F7FA05-F64D-4DA9-B2DC-07E32874F51A}" type="datetime1">
              <a:rPr lang="en-US" smtClean="0"/>
              <a:t>5/4/2026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84E86AFB-D604-4740-9B66-A946D941D812}"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91BCCE27-48B4-4C03-83B0-9AA6A7FC64E2}" type="datetime1">
              <a:rPr lang="en-US" smtClean="0"/>
              <a:t>5/4/2026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61B3CCDF-CAA0-4C42-AB93-D57937646E71}" type="datetime1">
              <a:rPr lang="en-US" smtClean="0"/>
              <a:t>5/4/2026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FB50F574-ABF0-4352-A650-C8FD256EC948}" type="datetime1">
              <a:rPr lang="en-US" smtClean="0"/>
              <a:t>5/4/2026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68713C19-7A14-4040-A47F-B159577C9E0F}"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86B4D0C4-0813-4F43-A74B-6557E77BE4B9}" type="datetime1">
              <a:rPr lang="en-US" smtClean="0"/>
              <a:t>5/4/2026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9A6B6C84-C944-47E8-82A1-53E821106760}"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F5C3629-B29B-4A4D-AB41-0406C61B2948}"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DE94660E-BF24-4CEC-9CFA-4C9FB75A553F}"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A950C80C-41D6-4975-BAF2-2A246BC5BECA}" type="datetime1">
              <a:rPr lang="en-US" smtClean="0"/>
              <a:t>5/4/2026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2CA26568-6E6B-4D9D-B47A-9255821AA292}" type="datetime1">
              <a:rPr lang="en-US" smtClean="0"/>
              <a:t>5/4/2026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19368727-F280-4628-9547-F5FBB82856DD}" type="datetime1">
              <a:rPr lang="en-US" smtClean="0"/>
              <a:t>5/4/2026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B03674AB-801F-4B38-9D05-8DF1B6078346}"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D5EF1B6F-7F25-4935-B59E-A581E69F8F37}"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6824009A-B4D5-41FA-B3D1-0A50BC999E6D}" type="datetime1">
              <a:rPr lang="en-US" smtClean="0"/>
              <a:t>5/4/2026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C210969E-0FE6-4DCD-89CE-51FDF70D9033}" type="datetime1">
              <a:rPr lang="en-US" smtClean="0"/>
              <a:t>5/4/2026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1DDE9B3F-E28A-4BE2-98B2-EE12F6FBA1E6}" type="datetime1">
              <a:rPr lang="en-US" smtClean="0"/>
              <a:t>5/4/2026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14053F9C-AF11-4787-841B-E8C06289CC7A}" type="datetime1">
              <a:rPr lang="en-US" smtClean="0"/>
              <a:t>5/4/2026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7C8981F4-A15A-4CB8-A7C2-5A3351D0879F}" type="datetime1">
              <a:rPr lang="en-US" smtClean="0"/>
              <a:t>5/4/2026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74987B7-B436-495F-8D90-185FB3068A24}" type="datetime1">
              <a:rPr lang="en-US" smtClean="0"/>
              <a:t>5/4/2026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C43AE19-1C91-4D1A-AF6C-72AC27ABE170}" type="datetime1">
              <a:rPr lang="en-US" smtClean="0"/>
              <a:t>5/4/2026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0C13969B-7642-40C0-9540-CDCAF2BCD58B}" type="datetime1">
              <a:rPr lang="en-US" smtClean="0"/>
              <a:t>5/4/2026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FB0619EA-95DD-4769-92B3-8CE73319524D}" type="datetime1">
              <a:rPr lang="en-US" smtClean="0"/>
              <a:t>5/4/2026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16EF71AB-380D-4C01-BEFD-8FDD71C384BB}" type="datetime1">
              <a:rPr lang="en-US" smtClean="0"/>
              <a:t>5/4/2026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9EF26C7A-6267-4160-A822-DBF464396ED7}" type="datetime1">
              <a:rPr lang="en-US" smtClean="0"/>
              <a:t>5/4/2026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3FAED425-69BB-4956-896E-EE9959BE51CC}" type="datetime1">
              <a:rPr lang="en-US" smtClean="0"/>
              <a:t>5/4/2026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6FE42F80-F257-46F4-A406-56CECB9E9AFB}" type="datetime1">
              <a:rPr lang="en-US" smtClean="0"/>
              <a:t>5/4/2026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C894B70A-D0A9-4E95-8902-A2132B7F8A22}" type="datetime1">
              <a:rPr lang="en-US" smtClean="0"/>
              <a:t>5/4/2026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79587E18-8F52-44DF-97AA-A9CD563959ED}"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3AA09D7A-CF64-4EFB-B511-836BD8A37423}" type="datetime1">
              <a:rPr lang="en-US" smtClean="0"/>
              <a:t>5/4/2026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FF10657C-4B30-45BF-AEFA-85C2284C7353}" type="datetime1">
              <a:rPr lang="en-US" smtClean="0"/>
              <a:t>5/4/2026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hdr="0" ftr="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avigaweb.net/2012/11/calcolare-velocita-processore.html" TargetMode="External"/><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hyperlink" Target="http://android.stackexchange.com/questions/89737/storage-space-and-memory-mobile-phone-architecture-versus-pc-architecture" TargetMode="Externa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riscv.org/specifications/ratified/" TargetMode="External"/><Relationship Id="rId3" Type="http://schemas.openxmlformats.org/officeDocument/2006/relationships/hyperlink" Target="https://ourworldindata.org/grapher/transistors-per-microprocessor" TargetMode="External"/><Relationship Id="rId7" Type="http://schemas.openxmlformats.org/officeDocument/2006/relationships/hyperlink" Target="https://developer.arm.com/documentation/den0013/0400/Multi-core-processor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amd.com/en/products/software/adaptive-socs-and-fpgas/microblaze-v.html" TargetMode="External"/><Relationship Id="rId5" Type="http://schemas.openxmlformats.org/officeDocument/2006/relationships/hyperlink" Target="https://docs.amd.com/r/en-US/ug1629-microblaze-v-user-guide/Introduction" TargetMode="External"/><Relationship Id="rId10" Type="http://schemas.openxmlformats.org/officeDocument/2006/relationships/hyperlink" Target="https://ashanpeiris.blogspot.com/2015/08/digital-design-of-systolic-array.html" TargetMode="External"/><Relationship Id="rId4" Type="http://schemas.openxmlformats.org/officeDocument/2006/relationships/hyperlink" Target="https://www.viksnewsletter.com/p/how-dennard-scaling-actually-works" TargetMode="External"/><Relationship Id="rId9" Type="http://schemas.openxmlformats.org/officeDocument/2006/relationships/hyperlink" Target="https://digitalsystemdesign.in/systolic-matrix-multipli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sz="8000" cap="none" dirty="0"/>
              <a:t>FPGA-Based SoC Platform for Prototyping and Evaluation</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lnSpcReduction="10000"/>
          </a:bodyPr>
          <a:lstStyle/>
          <a:p>
            <a:r>
              <a:rPr lang="en-US" dirty="0"/>
              <a:t>Jonathan Ekman, Brenden Moran</a:t>
            </a:r>
          </a:p>
          <a:p>
            <a:r>
              <a:rPr lang="en-US" dirty="0"/>
              <a:t>Advisor : Dr. Reza Khani</a:t>
            </a:r>
          </a:p>
        </p:txBody>
      </p:sp>
      <p:sp>
        <p:nvSpPr>
          <p:cNvPr id="2" name="Date Placeholder 1">
            <a:extLst>
              <a:ext uri="{FF2B5EF4-FFF2-40B4-BE49-F238E27FC236}">
                <a16:creationId xmlns:a16="http://schemas.microsoft.com/office/drawing/2014/main" id="{DFF29607-FD4D-BC60-2817-2CBF171D55F6}"/>
              </a:ext>
            </a:extLst>
          </p:cNvPr>
          <p:cNvSpPr>
            <a:spLocks noGrp="1"/>
          </p:cNvSpPr>
          <p:nvPr>
            <p:ph type="dt" sz="half" idx="10"/>
          </p:nvPr>
        </p:nvSpPr>
        <p:spPr/>
        <p:txBody>
          <a:bodyPr/>
          <a:lstStyle/>
          <a:p>
            <a:fld id="{0BAA4A4A-CDAF-48F3-9E1E-96EDB12D4010}" type="datetime1">
              <a:rPr lang="en-US" smtClean="0"/>
              <a:t>5/4/2026</a:t>
            </a:fld>
            <a:endParaRPr lang="en-US"/>
          </a:p>
        </p:txBody>
      </p:sp>
      <p:sp>
        <p:nvSpPr>
          <p:cNvPr id="5" name="Slide Number Placeholder 4">
            <a:extLst>
              <a:ext uri="{FF2B5EF4-FFF2-40B4-BE49-F238E27FC236}">
                <a16:creationId xmlns:a16="http://schemas.microsoft.com/office/drawing/2014/main" id="{0F9248BD-7285-B98A-2EFE-D1DCB557A23E}"/>
              </a:ext>
            </a:extLst>
          </p:cNvPr>
          <p:cNvSpPr>
            <a:spLocks noGrp="1"/>
          </p:cNvSpPr>
          <p:nvPr>
            <p:ph type="sldNum" sz="quarter" idx="12"/>
          </p:nvPr>
        </p:nvSpPr>
        <p:spPr/>
        <p:txBody>
          <a:bodyPr/>
          <a:lstStyle/>
          <a:p>
            <a:fld id="{AEAA3239-9EA4-4A65-A281-97F994456D9F}" type="slidenum">
              <a:rPr lang="en-US" smtClean="0"/>
              <a:pPr/>
              <a:t>1</a:t>
            </a:fld>
            <a:endParaRPr lang="en-US"/>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A84A-3056-3CB6-58BE-6B315E40BC4C}"/>
              </a:ext>
            </a:extLst>
          </p:cNvPr>
          <p:cNvSpPr>
            <a:spLocks noGrp="1"/>
          </p:cNvSpPr>
          <p:nvPr>
            <p:ph type="title"/>
          </p:nvPr>
        </p:nvSpPr>
        <p:spPr>
          <a:xfrm>
            <a:off x="125468" y="336030"/>
            <a:ext cx="10963655" cy="762001"/>
          </a:xfrm>
        </p:spPr>
        <p:txBody>
          <a:bodyPr/>
          <a:lstStyle/>
          <a:p>
            <a:r>
              <a:rPr lang="en-US"/>
              <a:t>About Us</a:t>
            </a:r>
          </a:p>
        </p:txBody>
      </p:sp>
      <p:sp>
        <p:nvSpPr>
          <p:cNvPr id="5" name="TextBox 6">
            <a:extLst>
              <a:ext uri="{FF2B5EF4-FFF2-40B4-BE49-F238E27FC236}">
                <a16:creationId xmlns:a16="http://schemas.microsoft.com/office/drawing/2014/main" id="{D736B3BD-0206-710E-1E48-26527B12DABD}"/>
              </a:ext>
            </a:extLst>
          </p:cNvPr>
          <p:cNvSpPr txBox="1"/>
          <p:nvPr/>
        </p:nvSpPr>
        <p:spPr>
          <a:xfrm>
            <a:off x="0" y="5131593"/>
            <a:ext cx="3904488"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Jonathan Ekman</a:t>
            </a:r>
          </a:p>
          <a:p>
            <a:pPr algn="ctr"/>
            <a:r>
              <a:rPr lang="en-US" dirty="0"/>
              <a:t>Cupertino, CA</a:t>
            </a:r>
          </a:p>
          <a:p>
            <a:pPr algn="ctr"/>
            <a:r>
              <a:rPr lang="en-US" dirty="0"/>
              <a:t>Electrical Engineering Major</a:t>
            </a:r>
          </a:p>
          <a:p>
            <a:pPr algn="ctr"/>
            <a:r>
              <a:rPr lang="en-US" dirty="0"/>
              <a:t>Project Manager Spring Semester</a:t>
            </a:r>
          </a:p>
        </p:txBody>
      </p:sp>
      <p:sp>
        <p:nvSpPr>
          <p:cNvPr id="6" name="TextBox 8">
            <a:extLst>
              <a:ext uri="{FF2B5EF4-FFF2-40B4-BE49-F238E27FC236}">
                <a16:creationId xmlns:a16="http://schemas.microsoft.com/office/drawing/2014/main" id="{E5BE69B2-A4E6-941E-8A0D-9C1A591E3B9F}"/>
              </a:ext>
            </a:extLst>
          </p:cNvPr>
          <p:cNvSpPr txBox="1"/>
          <p:nvPr/>
        </p:nvSpPr>
        <p:spPr>
          <a:xfrm>
            <a:off x="3904456" y="5162073"/>
            <a:ext cx="3787774"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Brenden Moran</a:t>
            </a:r>
          </a:p>
          <a:p>
            <a:pPr algn="ctr"/>
            <a:r>
              <a:rPr lang="en-US" dirty="0"/>
              <a:t>Paradise, CA</a:t>
            </a:r>
          </a:p>
          <a:p>
            <a:pPr algn="ctr"/>
            <a:r>
              <a:rPr lang="en-US" dirty="0"/>
              <a:t>Computer Engineering Major</a:t>
            </a:r>
          </a:p>
          <a:p>
            <a:pPr algn="ctr"/>
            <a:r>
              <a:rPr lang="en-US" dirty="0"/>
              <a:t>Assistant to the Project Manager</a:t>
            </a:r>
          </a:p>
        </p:txBody>
      </p:sp>
      <p:sp>
        <p:nvSpPr>
          <p:cNvPr id="7" name="TextBox 12">
            <a:extLst>
              <a:ext uri="{FF2B5EF4-FFF2-40B4-BE49-F238E27FC236}">
                <a16:creationId xmlns:a16="http://schemas.microsoft.com/office/drawing/2014/main" id="{A05B999D-4048-7ADF-2C9F-B74D87829639}"/>
              </a:ext>
            </a:extLst>
          </p:cNvPr>
          <p:cNvSpPr txBox="1"/>
          <p:nvPr/>
        </p:nvSpPr>
        <p:spPr>
          <a:xfrm>
            <a:off x="8572500" y="5131593"/>
            <a:ext cx="3381374"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Dr. Reza Khani</a:t>
            </a:r>
          </a:p>
          <a:p>
            <a:pPr algn="ctr"/>
            <a:r>
              <a:rPr lang="en-US"/>
              <a:t>Assistant Professor</a:t>
            </a:r>
          </a:p>
          <a:p>
            <a:pPr algn="ctr"/>
            <a:r>
              <a:rPr lang="en-US"/>
              <a:t>EECE Department, CSU Chico</a:t>
            </a:r>
          </a:p>
        </p:txBody>
      </p:sp>
      <p:pic>
        <p:nvPicPr>
          <p:cNvPr id="8" name="Picture 7" descr="A person in a black shirt&#10;&#10;AI-generated content may be incorrect.">
            <a:extLst>
              <a:ext uri="{FF2B5EF4-FFF2-40B4-BE49-F238E27FC236}">
                <a16:creationId xmlns:a16="http://schemas.microsoft.com/office/drawing/2014/main" id="{1EF86BC6-1800-9B39-582A-376DE913AF02}"/>
              </a:ext>
            </a:extLst>
          </p:cNvPr>
          <p:cNvPicPr>
            <a:picLocks noChangeAspect="1"/>
          </p:cNvPicPr>
          <p:nvPr/>
        </p:nvPicPr>
        <p:blipFill>
          <a:blip r:embed="rId3"/>
          <a:stretch>
            <a:fillRect/>
          </a:stretch>
        </p:blipFill>
        <p:spPr>
          <a:xfrm>
            <a:off x="8855869" y="2274094"/>
            <a:ext cx="2826543" cy="2714625"/>
          </a:xfrm>
          <a:prstGeom prst="rect">
            <a:avLst/>
          </a:prstGeom>
        </p:spPr>
      </p:pic>
      <p:sp>
        <p:nvSpPr>
          <p:cNvPr id="9" name="TextBox 16">
            <a:extLst>
              <a:ext uri="{FF2B5EF4-FFF2-40B4-BE49-F238E27FC236}">
                <a16:creationId xmlns:a16="http://schemas.microsoft.com/office/drawing/2014/main" id="{55655869-42BE-81F4-6E59-E625346DD4C5}"/>
              </a:ext>
            </a:extLst>
          </p:cNvPr>
          <p:cNvSpPr txBox="1"/>
          <p:nvPr/>
        </p:nvSpPr>
        <p:spPr>
          <a:xfrm>
            <a:off x="8453437" y="1428749"/>
            <a:ext cx="3655218"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a:t>Advisor</a:t>
            </a:r>
            <a:endParaRPr lang="en-US"/>
          </a:p>
        </p:txBody>
      </p:sp>
      <p:sp>
        <p:nvSpPr>
          <p:cNvPr id="10" name="TextBox 19">
            <a:extLst>
              <a:ext uri="{FF2B5EF4-FFF2-40B4-BE49-F238E27FC236}">
                <a16:creationId xmlns:a16="http://schemas.microsoft.com/office/drawing/2014/main" id="{4D9CFBD2-E572-4CD3-4B6A-05A51DB2B4D8}"/>
              </a:ext>
            </a:extLst>
          </p:cNvPr>
          <p:cNvSpPr txBox="1"/>
          <p:nvPr/>
        </p:nvSpPr>
        <p:spPr>
          <a:xfrm>
            <a:off x="0" y="1388381"/>
            <a:ext cx="7822406"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a:t>Students</a:t>
            </a:r>
            <a:endParaRPr lang="en-US"/>
          </a:p>
        </p:txBody>
      </p:sp>
      <p:pic>
        <p:nvPicPr>
          <p:cNvPr id="11" name="Picture 10" descr="A person wearing glasses and smiling&#10;&#10;AI-generated content may be incorrect.">
            <a:extLst>
              <a:ext uri="{FF2B5EF4-FFF2-40B4-BE49-F238E27FC236}">
                <a16:creationId xmlns:a16="http://schemas.microsoft.com/office/drawing/2014/main" id="{BDA9E5D8-AAF5-D3BB-EA0F-5E15DB1AF55B}"/>
              </a:ext>
            </a:extLst>
          </p:cNvPr>
          <p:cNvPicPr>
            <a:picLocks noChangeAspect="1"/>
          </p:cNvPicPr>
          <p:nvPr/>
        </p:nvPicPr>
        <p:blipFill>
          <a:blip r:embed="rId4"/>
          <a:stretch>
            <a:fillRect/>
          </a:stretch>
        </p:blipFill>
        <p:spPr>
          <a:xfrm>
            <a:off x="4308901" y="2270434"/>
            <a:ext cx="2988760" cy="2893278"/>
          </a:xfrm>
          <a:prstGeom prst="rect">
            <a:avLst/>
          </a:prstGeom>
        </p:spPr>
      </p:pic>
      <p:pic>
        <p:nvPicPr>
          <p:cNvPr id="12" name="Picture 11" descr="A person in a black shirt&#10;&#10;AI-generated content may be incorrect.">
            <a:extLst>
              <a:ext uri="{FF2B5EF4-FFF2-40B4-BE49-F238E27FC236}">
                <a16:creationId xmlns:a16="http://schemas.microsoft.com/office/drawing/2014/main" id="{4FA61C8F-7A6A-9411-AA19-35EEF6707ECE}"/>
              </a:ext>
            </a:extLst>
          </p:cNvPr>
          <p:cNvPicPr>
            <a:picLocks noChangeAspect="1"/>
          </p:cNvPicPr>
          <p:nvPr/>
        </p:nvPicPr>
        <p:blipFill>
          <a:blip r:embed="rId5"/>
          <a:srcRect l="5721" t="4827" r="200" b="-345"/>
          <a:stretch>
            <a:fillRect/>
          </a:stretch>
        </p:blipFill>
        <p:spPr>
          <a:xfrm>
            <a:off x="406280" y="2247345"/>
            <a:ext cx="2985686" cy="2881467"/>
          </a:xfrm>
          <a:prstGeom prst="rect">
            <a:avLst/>
          </a:prstGeom>
        </p:spPr>
      </p:pic>
      <p:cxnSp>
        <p:nvCxnSpPr>
          <p:cNvPr id="13" name="Straight Arrow Connector 12">
            <a:extLst>
              <a:ext uri="{FF2B5EF4-FFF2-40B4-BE49-F238E27FC236}">
                <a16:creationId xmlns:a16="http://schemas.microsoft.com/office/drawing/2014/main" id="{80104C57-1130-F0F2-9489-C582F41DC492}"/>
              </a:ext>
            </a:extLst>
          </p:cNvPr>
          <p:cNvCxnSpPr/>
          <p:nvPr/>
        </p:nvCxnSpPr>
        <p:spPr>
          <a:xfrm flipV="1">
            <a:off x="-1" y="1232060"/>
            <a:ext cx="12192475" cy="6189"/>
          </a:xfrm>
          <a:prstGeom prst="straightConnector1">
            <a:avLst/>
          </a:prstGeom>
          <a:ln w="57150"/>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55EBD91-7A31-4C4A-0028-52A1637163C3}"/>
              </a:ext>
            </a:extLst>
          </p:cNvPr>
          <p:cNvCxnSpPr/>
          <p:nvPr/>
        </p:nvCxnSpPr>
        <p:spPr>
          <a:xfrm>
            <a:off x="8060532" y="1238251"/>
            <a:ext cx="25721" cy="5619748"/>
          </a:xfrm>
          <a:prstGeom prst="straightConnector1">
            <a:avLst/>
          </a:prstGeom>
          <a:ln w="57150"/>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530CFCB4-9766-BBCC-50EF-0FB46967260A}"/>
              </a:ext>
            </a:extLst>
          </p:cNvPr>
          <p:cNvCxnSpPr/>
          <p:nvPr/>
        </p:nvCxnSpPr>
        <p:spPr>
          <a:xfrm>
            <a:off x="0" y="1952624"/>
            <a:ext cx="12191999" cy="11906"/>
          </a:xfrm>
          <a:prstGeom prst="straightConnector1">
            <a:avLst/>
          </a:prstGeom>
          <a:ln w="57150"/>
        </p:spPr>
        <p:style>
          <a:lnRef idx="1">
            <a:schemeClr val="dk1"/>
          </a:lnRef>
          <a:fillRef idx="0">
            <a:schemeClr val="dk1"/>
          </a:fillRef>
          <a:effectRef idx="0">
            <a:schemeClr val="dk1"/>
          </a:effectRef>
          <a:fontRef idx="minor">
            <a:schemeClr val="tx1"/>
          </a:fontRef>
        </p:style>
      </p:cxnSp>
      <p:sp>
        <p:nvSpPr>
          <p:cNvPr id="3" name="Date Placeholder 2">
            <a:extLst>
              <a:ext uri="{FF2B5EF4-FFF2-40B4-BE49-F238E27FC236}">
                <a16:creationId xmlns:a16="http://schemas.microsoft.com/office/drawing/2014/main" id="{F2138B5F-2C4E-A49E-D914-B334858425EE}"/>
              </a:ext>
            </a:extLst>
          </p:cNvPr>
          <p:cNvSpPr>
            <a:spLocks noGrp="1"/>
          </p:cNvSpPr>
          <p:nvPr>
            <p:ph type="dt" sz="half" idx="10"/>
          </p:nvPr>
        </p:nvSpPr>
        <p:spPr/>
        <p:txBody>
          <a:bodyPr/>
          <a:lstStyle/>
          <a:p>
            <a:fld id="{76A5BEC3-6634-4337-9BE7-240758E212F7}" type="datetime1">
              <a:rPr lang="en-US" smtClean="0"/>
              <a:t>5/4/2026</a:t>
            </a:fld>
            <a:endParaRPr lang="en-US"/>
          </a:p>
        </p:txBody>
      </p:sp>
      <p:sp>
        <p:nvSpPr>
          <p:cNvPr id="4" name="Slide Number Placeholder 3">
            <a:extLst>
              <a:ext uri="{FF2B5EF4-FFF2-40B4-BE49-F238E27FC236}">
                <a16:creationId xmlns:a16="http://schemas.microsoft.com/office/drawing/2014/main" id="{EFE4D84B-7265-1D68-EDE2-7CB1C68F6A66}"/>
              </a:ext>
            </a:extLst>
          </p:cNvPr>
          <p:cNvSpPr>
            <a:spLocks noGrp="1"/>
          </p:cNvSpPr>
          <p:nvPr>
            <p:ph type="sldNum" sz="quarter" idx="12"/>
          </p:nvPr>
        </p:nvSpPr>
        <p:spPr/>
        <p:txBody>
          <a:bodyPr/>
          <a:lstStyle/>
          <a:p>
            <a:fld id="{AEAA3239-9EA4-4A65-A281-97F994456D9F}" type="slidenum">
              <a:rPr lang="en-US" smtClean="0"/>
              <a:t>2</a:t>
            </a:fld>
            <a:endParaRPr lang="en-US"/>
          </a:p>
        </p:txBody>
      </p:sp>
    </p:spTree>
    <p:extLst>
      <p:ext uri="{BB962C8B-B14F-4D97-AF65-F5344CB8AC3E}">
        <p14:creationId xmlns:p14="http://schemas.microsoft.com/office/powerpoint/2010/main" val="180182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96EBD-514A-4D5F-02E7-AF4950903DA2}"/>
              </a:ext>
            </a:extLst>
          </p:cNvPr>
          <p:cNvSpPr>
            <a:spLocks noGrp="1"/>
          </p:cNvSpPr>
          <p:nvPr>
            <p:ph type="title"/>
          </p:nvPr>
        </p:nvSpPr>
        <p:spPr>
          <a:xfrm>
            <a:off x="612646" y="685800"/>
            <a:ext cx="3654553" cy="3657600"/>
          </a:xfrm>
        </p:spPr>
        <p:txBody>
          <a:bodyPr anchor="t">
            <a:normAutofit/>
          </a:bodyPr>
          <a:lstStyle/>
          <a:p>
            <a:r>
              <a:rPr lang="en-US"/>
              <a:t>Agenda</a:t>
            </a:r>
          </a:p>
        </p:txBody>
      </p:sp>
      <p:sp>
        <p:nvSpPr>
          <p:cNvPr id="8" name="Content Placeholder 2">
            <a:extLst>
              <a:ext uri="{FF2B5EF4-FFF2-40B4-BE49-F238E27FC236}">
                <a16:creationId xmlns:a16="http://schemas.microsoft.com/office/drawing/2014/main" id="{1E76D213-0BAD-0225-8C7C-E3EC0CAC1CC3}"/>
              </a:ext>
            </a:extLst>
          </p:cNvPr>
          <p:cNvSpPr>
            <a:spLocks noGrp="1"/>
          </p:cNvSpPr>
          <p:nvPr>
            <p:ph sz="quarter" idx="13"/>
          </p:nvPr>
        </p:nvSpPr>
        <p:spPr>
          <a:xfrm>
            <a:off x="3907438" y="685800"/>
            <a:ext cx="6995408" cy="5487649"/>
          </a:xfrm>
        </p:spPr>
        <p:txBody>
          <a:bodyPr vert="horz" lIns="91440" tIns="45720" rIns="91440" bIns="45720" rtlCol="0" anchor="t">
            <a:noAutofit/>
          </a:bodyPr>
          <a:lstStyle/>
          <a:p>
            <a:pPr marL="342900" indent="-342900">
              <a:lnSpc>
                <a:spcPct val="200000"/>
              </a:lnSpc>
              <a:buAutoNum type="arabicPeriod"/>
            </a:pPr>
            <a:r>
              <a:rPr lang="en-US" sz="2000" dirty="0"/>
              <a:t>Background and Design Motivation</a:t>
            </a:r>
          </a:p>
          <a:p>
            <a:pPr marL="342900" indent="-342900">
              <a:lnSpc>
                <a:spcPct val="200000"/>
              </a:lnSpc>
              <a:buAutoNum type="arabicPeriod"/>
            </a:pPr>
            <a:r>
              <a:rPr lang="en-US" sz="2000" dirty="0"/>
              <a:t>Project Goals and Metrics</a:t>
            </a:r>
          </a:p>
          <a:p>
            <a:pPr marL="342900" indent="-342900">
              <a:lnSpc>
                <a:spcPct val="200000"/>
              </a:lnSpc>
              <a:buAutoNum type="arabicPeriod"/>
            </a:pPr>
            <a:r>
              <a:rPr lang="en-US" sz="2000" dirty="0"/>
              <a:t>Design Choices </a:t>
            </a:r>
          </a:p>
          <a:p>
            <a:pPr marL="342900" indent="-342900">
              <a:lnSpc>
                <a:spcPct val="200000"/>
              </a:lnSpc>
              <a:buAutoNum type="arabicPeriod"/>
            </a:pPr>
            <a:r>
              <a:rPr lang="en-US" sz="2000" dirty="0"/>
              <a:t>Implementation</a:t>
            </a:r>
          </a:p>
          <a:p>
            <a:pPr marL="342900" indent="-342900">
              <a:lnSpc>
                <a:spcPct val="200000"/>
              </a:lnSpc>
              <a:buAutoNum type="arabicPeriod"/>
            </a:pPr>
            <a:r>
              <a:rPr lang="en-US" sz="2000" dirty="0"/>
              <a:t>Final Design Overview</a:t>
            </a:r>
          </a:p>
          <a:p>
            <a:pPr marL="342900" indent="-342900">
              <a:lnSpc>
                <a:spcPct val="200000"/>
              </a:lnSpc>
              <a:buAutoNum type="arabicPeriod"/>
            </a:pPr>
            <a:r>
              <a:rPr lang="en-US" sz="2000" dirty="0"/>
              <a:t>Testing and Verification</a:t>
            </a:r>
          </a:p>
          <a:p>
            <a:pPr marL="342900" indent="-342900">
              <a:lnSpc>
                <a:spcPct val="200000"/>
              </a:lnSpc>
              <a:buAutoNum type="arabicPeriod"/>
            </a:pPr>
            <a:r>
              <a:rPr lang="en-US" sz="2000" dirty="0"/>
              <a:t>Conclusions and Future Improvements</a:t>
            </a:r>
          </a:p>
          <a:p>
            <a:pPr marL="342900" indent="-342900">
              <a:buAutoNum type="arabicPeriod"/>
            </a:pPr>
            <a:endParaRPr lang="en-US" dirty="0"/>
          </a:p>
          <a:p>
            <a:pPr marL="342900" indent="-342900">
              <a:buAutoNum type="arabicPeriod"/>
            </a:pPr>
            <a:endParaRPr lang="en-US" dirty="0"/>
          </a:p>
        </p:txBody>
      </p:sp>
      <p:sp>
        <p:nvSpPr>
          <p:cNvPr id="3" name="Date Placeholder 2">
            <a:extLst>
              <a:ext uri="{FF2B5EF4-FFF2-40B4-BE49-F238E27FC236}">
                <a16:creationId xmlns:a16="http://schemas.microsoft.com/office/drawing/2014/main" id="{0E643E9F-DD54-892A-2463-57D4CF1D56B9}"/>
              </a:ext>
            </a:extLst>
          </p:cNvPr>
          <p:cNvSpPr>
            <a:spLocks noGrp="1"/>
          </p:cNvSpPr>
          <p:nvPr>
            <p:ph type="dt" sz="half" idx="10"/>
          </p:nvPr>
        </p:nvSpPr>
        <p:spPr/>
        <p:txBody>
          <a:bodyPr/>
          <a:lstStyle/>
          <a:p>
            <a:fld id="{287C7F97-421C-480D-8A88-65180E4B086A}" type="datetime1">
              <a:rPr lang="en-US" smtClean="0"/>
              <a:t>5/4/2026</a:t>
            </a:fld>
            <a:endParaRPr lang="en-US"/>
          </a:p>
        </p:txBody>
      </p:sp>
      <p:sp>
        <p:nvSpPr>
          <p:cNvPr id="4" name="Slide Number Placeholder 3">
            <a:extLst>
              <a:ext uri="{FF2B5EF4-FFF2-40B4-BE49-F238E27FC236}">
                <a16:creationId xmlns:a16="http://schemas.microsoft.com/office/drawing/2014/main" id="{C716A942-49C7-BF7E-655C-4CCA69C65CD8}"/>
              </a:ext>
            </a:extLst>
          </p:cNvPr>
          <p:cNvSpPr>
            <a:spLocks noGrp="1"/>
          </p:cNvSpPr>
          <p:nvPr>
            <p:ph type="sldNum" sz="quarter" idx="12"/>
          </p:nvPr>
        </p:nvSpPr>
        <p:spPr/>
        <p:txBody>
          <a:bodyPr/>
          <a:lstStyle/>
          <a:p>
            <a:fld id="{AEAA3239-9EA4-4A65-A281-97F994456D9F}" type="slidenum">
              <a:rPr lang="en-US" smtClean="0"/>
              <a:t>3</a:t>
            </a:fld>
            <a:endParaRPr lang="en-US"/>
          </a:p>
        </p:txBody>
      </p:sp>
    </p:spTree>
    <p:extLst>
      <p:ext uri="{BB962C8B-B14F-4D97-AF65-F5344CB8AC3E}">
        <p14:creationId xmlns:p14="http://schemas.microsoft.com/office/powerpoint/2010/main" val="1791005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28488-54A2-6E5C-685D-ED864078AC4E}"/>
              </a:ext>
            </a:extLst>
          </p:cNvPr>
          <p:cNvSpPr>
            <a:spLocks noGrp="1"/>
          </p:cNvSpPr>
          <p:nvPr>
            <p:ph type="title"/>
          </p:nvPr>
        </p:nvSpPr>
        <p:spPr/>
        <p:txBody>
          <a:bodyPr/>
          <a:lstStyle/>
          <a:p>
            <a:r>
              <a:rPr lang="en-US"/>
              <a:t>Background</a:t>
            </a:r>
          </a:p>
        </p:txBody>
      </p:sp>
      <p:sp>
        <p:nvSpPr>
          <p:cNvPr id="3" name="Content Placeholder 2">
            <a:extLst>
              <a:ext uri="{FF2B5EF4-FFF2-40B4-BE49-F238E27FC236}">
                <a16:creationId xmlns:a16="http://schemas.microsoft.com/office/drawing/2014/main" id="{B30E892D-E422-EFDA-4F79-ED49E1F2A82F}"/>
              </a:ext>
            </a:extLst>
          </p:cNvPr>
          <p:cNvSpPr>
            <a:spLocks noGrp="1"/>
          </p:cNvSpPr>
          <p:nvPr>
            <p:ph idx="1"/>
          </p:nvPr>
        </p:nvSpPr>
        <p:spPr>
          <a:xfrm>
            <a:off x="612647" y="1441555"/>
            <a:ext cx="7153656" cy="4730645"/>
          </a:xfrm>
        </p:spPr>
        <p:txBody>
          <a:bodyPr vert="horz" lIns="91440" tIns="45720" rIns="91440" bIns="45720" rtlCol="0" anchor="t">
            <a:noAutofit/>
          </a:bodyPr>
          <a:lstStyle/>
          <a:p>
            <a:pPr marL="285750" indent="-285750">
              <a:lnSpc>
                <a:spcPct val="120000"/>
              </a:lnSpc>
              <a:buFont typeface="Arial"/>
              <a:buChar char="•"/>
            </a:pPr>
            <a:r>
              <a:rPr lang="en-US" sz="2400">
                <a:solidFill>
                  <a:schemeClr val="tx1"/>
                </a:solidFill>
                <a:latin typeface="Aptos Light"/>
              </a:rPr>
              <a:t>The Problem</a:t>
            </a:r>
          </a:p>
          <a:p>
            <a:pPr marL="514350" lvl="1" indent="-285750">
              <a:lnSpc>
                <a:spcPct val="120000"/>
              </a:lnSpc>
              <a:buFont typeface="Arial"/>
              <a:buChar char="•"/>
            </a:pPr>
            <a:r>
              <a:rPr lang="en-US" sz="2000">
                <a:solidFill>
                  <a:schemeClr val="tx1"/>
                </a:solidFill>
                <a:latin typeface="Aptos Light"/>
              </a:rPr>
              <a:t>Traditional Performance gains have plateaued</a:t>
            </a:r>
          </a:p>
          <a:p>
            <a:pPr marL="742950" lvl="2" indent="-285750">
              <a:lnSpc>
                <a:spcPct val="120000"/>
              </a:lnSpc>
              <a:buFont typeface="Arial"/>
              <a:buChar char="•"/>
            </a:pPr>
            <a:r>
              <a:rPr lang="en-US" sz="1800">
                <a:solidFill>
                  <a:schemeClr val="tx1"/>
                </a:solidFill>
                <a:latin typeface="Aptos Light"/>
              </a:rPr>
              <a:t>Moore’s Law</a:t>
            </a:r>
          </a:p>
          <a:p>
            <a:pPr marL="742950" lvl="2" indent="-285750">
              <a:lnSpc>
                <a:spcPct val="120000"/>
              </a:lnSpc>
              <a:buFont typeface="Arial"/>
              <a:buChar char="•"/>
            </a:pPr>
            <a:r>
              <a:rPr lang="en-US" sz="1800">
                <a:solidFill>
                  <a:schemeClr val="tx1"/>
                </a:solidFill>
                <a:latin typeface="Aptos Light"/>
              </a:rPr>
              <a:t>Dennard Scaling</a:t>
            </a:r>
            <a:endParaRPr lang="en-US" sz="1800" dirty="0">
              <a:solidFill>
                <a:schemeClr val="tx1"/>
              </a:solidFill>
              <a:latin typeface="Aptos Light"/>
            </a:endParaRPr>
          </a:p>
          <a:p>
            <a:pPr marL="514350" lvl="1" indent="-285750">
              <a:lnSpc>
                <a:spcPct val="120000"/>
              </a:lnSpc>
              <a:buFont typeface="Arial"/>
              <a:buChar char="•"/>
            </a:pPr>
            <a:r>
              <a:rPr lang="en-US" sz="1800">
                <a:solidFill>
                  <a:schemeClr val="tx1"/>
                </a:solidFill>
                <a:latin typeface="Aptos Light"/>
              </a:rPr>
              <a:t>Engineers are focusing more on specialized SoC and multi-core designs</a:t>
            </a:r>
            <a:endParaRPr lang="en-US" sz="1800" dirty="0">
              <a:solidFill>
                <a:schemeClr val="tx1"/>
              </a:solidFill>
              <a:latin typeface="Aptos Light"/>
            </a:endParaRPr>
          </a:p>
          <a:p>
            <a:pPr marL="742950" lvl="2" indent="-285750">
              <a:lnSpc>
                <a:spcPct val="120000"/>
              </a:lnSpc>
              <a:buFont typeface="Arial"/>
              <a:buChar char="•"/>
            </a:pPr>
            <a:r>
              <a:rPr lang="en-US" sz="1800">
                <a:solidFill>
                  <a:schemeClr val="tx1"/>
                </a:solidFill>
                <a:latin typeface="Aptos Light"/>
              </a:rPr>
              <a:t>Need a platform that enables testing for these custom designs</a:t>
            </a:r>
            <a:endParaRPr lang="en-US" sz="1800" dirty="0">
              <a:solidFill>
                <a:schemeClr val="tx1"/>
              </a:solidFill>
              <a:latin typeface="Aptos Light"/>
            </a:endParaRPr>
          </a:p>
          <a:p>
            <a:pPr marL="742950" lvl="2" indent="-285750">
              <a:lnSpc>
                <a:spcPct val="120000"/>
              </a:lnSpc>
              <a:buFont typeface="Arial"/>
              <a:buChar char="•"/>
            </a:pPr>
            <a:endParaRPr lang="en-US" sz="1800" dirty="0">
              <a:solidFill>
                <a:schemeClr val="tx1"/>
              </a:solidFill>
              <a:latin typeface="Aptos Light"/>
            </a:endParaRPr>
          </a:p>
          <a:p>
            <a:pPr marL="285750" indent="-285750">
              <a:lnSpc>
                <a:spcPct val="120000"/>
              </a:lnSpc>
              <a:buFont typeface="Arial"/>
              <a:buChar char="•"/>
            </a:pPr>
            <a:r>
              <a:rPr lang="en-US" sz="2400">
                <a:solidFill>
                  <a:schemeClr val="tx1"/>
                </a:solidFill>
                <a:latin typeface="Aptos Light"/>
              </a:rPr>
              <a:t>Solution</a:t>
            </a:r>
          </a:p>
          <a:p>
            <a:pPr marL="514350" lvl="1" indent="-285750">
              <a:lnSpc>
                <a:spcPct val="120000"/>
              </a:lnSpc>
              <a:buFont typeface="Arial"/>
              <a:buChar char="•"/>
            </a:pPr>
            <a:r>
              <a:rPr lang="en-US" sz="2000">
                <a:solidFill>
                  <a:schemeClr val="tx1"/>
                </a:solidFill>
                <a:latin typeface="Aptos Light"/>
              </a:rPr>
              <a:t>Build a configurable multi-core analysis platform</a:t>
            </a:r>
          </a:p>
          <a:p>
            <a:pPr marL="514350" lvl="1" indent="-285750">
              <a:lnSpc>
                <a:spcPct val="120000"/>
              </a:lnSpc>
              <a:buFont typeface="Arial"/>
              <a:buChar char="•"/>
            </a:pPr>
            <a:r>
              <a:rPr lang="en-US" sz="2000">
                <a:solidFill>
                  <a:schemeClr val="tx1"/>
                </a:solidFill>
                <a:latin typeface="Aptos Light"/>
              </a:rPr>
              <a:t>Measures latency, bandwidth, and resources used</a:t>
            </a:r>
          </a:p>
        </p:txBody>
      </p:sp>
      <p:pic>
        <p:nvPicPr>
          <p:cNvPr id="4" name="Picture 3" descr="A graph of different colored lines&#10;&#10;AI-generated content may be incorrect.">
            <a:extLst>
              <a:ext uri="{FF2B5EF4-FFF2-40B4-BE49-F238E27FC236}">
                <a16:creationId xmlns:a16="http://schemas.microsoft.com/office/drawing/2014/main" id="{6CFD7300-6293-78A9-1DB8-A7ED327A3596}"/>
              </a:ext>
            </a:extLst>
          </p:cNvPr>
          <p:cNvPicPr>
            <a:picLocks noChangeAspect="1"/>
          </p:cNvPicPr>
          <p:nvPr/>
        </p:nvPicPr>
        <p:blipFill>
          <a:blip r:embed="rId3"/>
          <a:stretch>
            <a:fillRect/>
          </a:stretch>
        </p:blipFill>
        <p:spPr>
          <a:xfrm>
            <a:off x="7504724" y="1958251"/>
            <a:ext cx="4691410" cy="2946786"/>
          </a:xfrm>
          <a:prstGeom prst="rect">
            <a:avLst/>
          </a:prstGeom>
        </p:spPr>
      </p:pic>
      <p:sp>
        <p:nvSpPr>
          <p:cNvPr id="5" name="Oval 4">
            <a:extLst>
              <a:ext uri="{FF2B5EF4-FFF2-40B4-BE49-F238E27FC236}">
                <a16:creationId xmlns:a16="http://schemas.microsoft.com/office/drawing/2014/main" id="{E02DEAE9-C69A-1E42-0A32-BC4E0B3A316C}"/>
              </a:ext>
            </a:extLst>
          </p:cNvPr>
          <p:cNvSpPr/>
          <p:nvPr/>
        </p:nvSpPr>
        <p:spPr>
          <a:xfrm>
            <a:off x="10106368" y="3175682"/>
            <a:ext cx="2085052" cy="507861"/>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Date Placeholder 5">
            <a:extLst>
              <a:ext uri="{FF2B5EF4-FFF2-40B4-BE49-F238E27FC236}">
                <a16:creationId xmlns:a16="http://schemas.microsoft.com/office/drawing/2014/main" id="{6FA87110-06D2-D909-927D-FEB15F8FE3CB}"/>
              </a:ext>
            </a:extLst>
          </p:cNvPr>
          <p:cNvSpPr>
            <a:spLocks noGrp="1"/>
          </p:cNvSpPr>
          <p:nvPr>
            <p:ph type="dt" sz="half" idx="10"/>
          </p:nvPr>
        </p:nvSpPr>
        <p:spPr/>
        <p:txBody>
          <a:bodyPr/>
          <a:lstStyle/>
          <a:p>
            <a:fld id="{AA5FE2A2-28D3-4735-A594-8B749B6D065F}" type="datetime1">
              <a:rPr lang="en-US" smtClean="0"/>
              <a:t>5/4/2026</a:t>
            </a:fld>
            <a:endParaRPr lang="en-US"/>
          </a:p>
        </p:txBody>
      </p:sp>
      <p:sp>
        <p:nvSpPr>
          <p:cNvPr id="7" name="Slide Number Placeholder 6">
            <a:extLst>
              <a:ext uri="{FF2B5EF4-FFF2-40B4-BE49-F238E27FC236}">
                <a16:creationId xmlns:a16="http://schemas.microsoft.com/office/drawing/2014/main" id="{74EB85C7-8F22-FC4B-2681-3F8555D95900}"/>
              </a:ext>
            </a:extLst>
          </p:cNvPr>
          <p:cNvSpPr>
            <a:spLocks noGrp="1"/>
          </p:cNvSpPr>
          <p:nvPr>
            <p:ph type="sldNum" sz="quarter" idx="12"/>
          </p:nvPr>
        </p:nvSpPr>
        <p:spPr/>
        <p:txBody>
          <a:bodyPr/>
          <a:lstStyle/>
          <a:p>
            <a:fld id="{AEAA3239-9EA4-4A65-A281-97F994456D9F}" type="slidenum">
              <a:rPr lang="en-US" smtClean="0"/>
              <a:t>4</a:t>
            </a:fld>
            <a:endParaRPr lang="en-US"/>
          </a:p>
        </p:txBody>
      </p:sp>
    </p:spTree>
    <p:extLst>
      <p:ext uri="{BB962C8B-B14F-4D97-AF65-F5344CB8AC3E}">
        <p14:creationId xmlns:p14="http://schemas.microsoft.com/office/powerpoint/2010/main" val="2572013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9FB7-A1E5-448C-1433-BEB370C4A083}"/>
              </a:ext>
            </a:extLst>
          </p:cNvPr>
          <p:cNvSpPr>
            <a:spLocks noGrp="1"/>
          </p:cNvSpPr>
          <p:nvPr>
            <p:ph type="title"/>
          </p:nvPr>
        </p:nvSpPr>
        <p:spPr/>
        <p:txBody>
          <a:bodyPr/>
          <a:lstStyle/>
          <a:p>
            <a:r>
              <a:rPr lang="en-US"/>
              <a:t>Project Goals</a:t>
            </a:r>
          </a:p>
        </p:txBody>
      </p:sp>
      <p:sp>
        <p:nvSpPr>
          <p:cNvPr id="3" name="Content Placeholder 2">
            <a:extLst>
              <a:ext uri="{FF2B5EF4-FFF2-40B4-BE49-F238E27FC236}">
                <a16:creationId xmlns:a16="http://schemas.microsoft.com/office/drawing/2014/main" id="{AF67B93A-BC32-3FDC-6A09-FA91A51F477A}"/>
              </a:ext>
            </a:extLst>
          </p:cNvPr>
          <p:cNvSpPr>
            <a:spLocks noGrp="1"/>
          </p:cNvSpPr>
          <p:nvPr>
            <p:ph idx="1"/>
          </p:nvPr>
        </p:nvSpPr>
        <p:spPr/>
        <p:txBody>
          <a:bodyPr vert="horz" lIns="91440" tIns="45720" rIns="91440" bIns="45720" rtlCol="0" anchor="t">
            <a:noAutofit/>
          </a:bodyPr>
          <a:lstStyle/>
          <a:p>
            <a:pPr marL="342900" indent="-342900">
              <a:lnSpc>
                <a:spcPct val="200000"/>
              </a:lnSpc>
              <a:buAutoNum type="arabicPeriod"/>
            </a:pPr>
            <a:r>
              <a:rPr lang="en-US" sz="2000"/>
              <a:t>A highly configurable FPGA project SoC built for academia</a:t>
            </a:r>
          </a:p>
          <a:p>
            <a:pPr marL="571500" lvl="1" indent="-342900">
              <a:lnSpc>
                <a:spcPct val="200000"/>
              </a:lnSpc>
              <a:buFont typeface="Courier New" panose="020B0604020202020204" pitchFamily="34" charset="0"/>
              <a:buChar char="o"/>
            </a:pPr>
            <a:r>
              <a:rPr lang="en-US" sz="2000"/>
              <a:t>Multicore capabilities</a:t>
            </a:r>
          </a:p>
          <a:p>
            <a:pPr marL="571500" lvl="1" indent="-342900">
              <a:lnSpc>
                <a:spcPct val="200000"/>
              </a:lnSpc>
              <a:buFont typeface="Courier New" panose="020B0604020202020204" pitchFamily="34" charset="0"/>
              <a:buChar char="o"/>
            </a:pPr>
            <a:r>
              <a:rPr lang="en-US" sz="2000"/>
              <a:t>DDR Ram access</a:t>
            </a:r>
          </a:p>
          <a:p>
            <a:pPr marL="571500" lvl="1" indent="-342900">
              <a:lnSpc>
                <a:spcPct val="200000"/>
              </a:lnSpc>
              <a:buFont typeface="Courier New" panose="020B0604020202020204" pitchFamily="34" charset="0"/>
              <a:buChar char="o"/>
            </a:pPr>
            <a:r>
              <a:rPr lang="en-US" sz="2000"/>
              <a:t>I/O ports</a:t>
            </a:r>
          </a:p>
          <a:p>
            <a:pPr marL="571500" lvl="1" indent="-342900">
              <a:lnSpc>
                <a:spcPct val="200000"/>
              </a:lnSpc>
              <a:buFont typeface="Courier New" panose="020B0604020202020204" pitchFamily="34" charset="0"/>
              <a:buChar char="o"/>
            </a:pPr>
            <a:r>
              <a:rPr lang="en-US" sz="2000"/>
              <a:t>Custom Accelerators</a:t>
            </a:r>
          </a:p>
          <a:p>
            <a:pPr marL="342900" indent="-342900">
              <a:lnSpc>
                <a:spcPct val="200000"/>
              </a:lnSpc>
              <a:buAutoNum type="arabicPeriod"/>
            </a:pPr>
            <a:r>
              <a:rPr lang="en-US" sz="2000"/>
              <a:t>Embedded code to utilize all components as example</a:t>
            </a:r>
          </a:p>
        </p:txBody>
      </p:sp>
      <p:sp>
        <p:nvSpPr>
          <p:cNvPr id="4" name="Date Placeholder 3">
            <a:extLst>
              <a:ext uri="{FF2B5EF4-FFF2-40B4-BE49-F238E27FC236}">
                <a16:creationId xmlns:a16="http://schemas.microsoft.com/office/drawing/2014/main" id="{98D7C110-E3B4-6DB9-CFA9-415C595BB557}"/>
              </a:ext>
            </a:extLst>
          </p:cNvPr>
          <p:cNvSpPr>
            <a:spLocks noGrp="1"/>
          </p:cNvSpPr>
          <p:nvPr>
            <p:ph type="dt" sz="half" idx="10"/>
          </p:nvPr>
        </p:nvSpPr>
        <p:spPr/>
        <p:txBody>
          <a:bodyPr/>
          <a:lstStyle/>
          <a:p>
            <a:fld id="{9AD67736-8980-431C-A0CB-A139440F73EF}" type="datetime1">
              <a:rPr lang="en-US" smtClean="0"/>
              <a:t>5/4/2026</a:t>
            </a:fld>
            <a:endParaRPr lang="en-US"/>
          </a:p>
        </p:txBody>
      </p:sp>
      <p:sp>
        <p:nvSpPr>
          <p:cNvPr id="5" name="Slide Number Placeholder 4">
            <a:extLst>
              <a:ext uri="{FF2B5EF4-FFF2-40B4-BE49-F238E27FC236}">
                <a16:creationId xmlns:a16="http://schemas.microsoft.com/office/drawing/2014/main" id="{4B346552-7C7A-64C3-FD9B-D65565D68FFB}"/>
              </a:ext>
            </a:extLst>
          </p:cNvPr>
          <p:cNvSpPr>
            <a:spLocks noGrp="1"/>
          </p:cNvSpPr>
          <p:nvPr>
            <p:ph type="sldNum" sz="quarter" idx="12"/>
          </p:nvPr>
        </p:nvSpPr>
        <p:spPr/>
        <p:txBody>
          <a:bodyPr/>
          <a:lstStyle/>
          <a:p>
            <a:fld id="{AEAA3239-9EA4-4A65-A281-97F994456D9F}" type="slidenum">
              <a:rPr lang="en-US" smtClean="0"/>
              <a:t>5</a:t>
            </a:fld>
            <a:endParaRPr lang="en-US"/>
          </a:p>
        </p:txBody>
      </p:sp>
    </p:spTree>
    <p:extLst>
      <p:ext uri="{BB962C8B-B14F-4D97-AF65-F5344CB8AC3E}">
        <p14:creationId xmlns:p14="http://schemas.microsoft.com/office/powerpoint/2010/main" val="3372558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8429-3A54-CC2F-3792-7EAF72982C40}"/>
              </a:ext>
            </a:extLst>
          </p:cNvPr>
          <p:cNvSpPr>
            <a:spLocks noGrp="1"/>
          </p:cNvSpPr>
          <p:nvPr>
            <p:ph type="title"/>
          </p:nvPr>
        </p:nvSpPr>
        <p:spPr/>
        <p:txBody>
          <a:bodyPr/>
          <a:lstStyle/>
          <a:p>
            <a:r>
              <a:rPr lang="en-US"/>
              <a:t>metrics</a:t>
            </a:r>
          </a:p>
        </p:txBody>
      </p:sp>
      <p:sp>
        <p:nvSpPr>
          <p:cNvPr id="3" name="Content Placeholder 2">
            <a:extLst>
              <a:ext uri="{FF2B5EF4-FFF2-40B4-BE49-F238E27FC236}">
                <a16:creationId xmlns:a16="http://schemas.microsoft.com/office/drawing/2014/main" id="{B348C6DD-6A2B-51CA-3819-CE02952DD330}"/>
              </a:ext>
            </a:extLst>
          </p:cNvPr>
          <p:cNvSpPr>
            <a:spLocks noGrp="1"/>
          </p:cNvSpPr>
          <p:nvPr>
            <p:ph idx="1"/>
          </p:nvPr>
        </p:nvSpPr>
        <p:spPr/>
        <p:txBody>
          <a:bodyPr vert="horz" lIns="91440" tIns="45720" rIns="91440" bIns="45720" rtlCol="0" anchor="t">
            <a:noAutofit/>
          </a:bodyPr>
          <a:lstStyle/>
          <a:p>
            <a:pPr marL="285750" indent="-285750">
              <a:lnSpc>
                <a:spcPct val="120000"/>
              </a:lnSpc>
              <a:buFont typeface="Arial,Sans-Serif"/>
              <a:buChar char="•"/>
            </a:pPr>
            <a:r>
              <a:rPr lang="en-US" sz="2400">
                <a:solidFill>
                  <a:schemeClr val="tx1"/>
                </a:solidFill>
                <a:latin typeface="Aptos Light"/>
              </a:rPr>
              <a:t>CPU performance</a:t>
            </a:r>
          </a:p>
          <a:p>
            <a:pPr marL="514350" lvl="1" indent="-285750">
              <a:lnSpc>
                <a:spcPct val="120000"/>
              </a:lnSpc>
              <a:buFont typeface="Arial,Sans-Serif"/>
              <a:buChar char="•"/>
            </a:pPr>
            <a:r>
              <a:rPr lang="en-US" sz="2400">
                <a:solidFill>
                  <a:schemeClr val="tx1"/>
                </a:solidFill>
                <a:latin typeface="Aptos Light"/>
              </a:rPr>
              <a:t>Clock cycles for an algorithm</a:t>
            </a:r>
          </a:p>
          <a:p>
            <a:pPr marL="514350" lvl="1" indent="-285750">
              <a:lnSpc>
                <a:spcPct val="120000"/>
              </a:lnSpc>
              <a:buFont typeface="Arial,Sans-Serif"/>
              <a:buChar char="•"/>
            </a:pPr>
            <a:r>
              <a:rPr lang="en-US" sz="2400">
                <a:solidFill>
                  <a:schemeClr val="tx1"/>
                </a:solidFill>
                <a:latin typeface="Aptos Light"/>
              </a:rPr>
              <a:t>Cache performance</a:t>
            </a:r>
          </a:p>
          <a:p>
            <a:pPr marL="285750" indent="-285750">
              <a:lnSpc>
                <a:spcPct val="120000"/>
              </a:lnSpc>
              <a:buFont typeface="Arial,Sans-Serif"/>
              <a:buChar char="•"/>
            </a:pPr>
            <a:r>
              <a:rPr lang="en-US" sz="2400">
                <a:solidFill>
                  <a:schemeClr val="tx1"/>
                </a:solidFill>
                <a:latin typeface="Aptos Light"/>
              </a:rPr>
              <a:t>System Performance</a:t>
            </a:r>
          </a:p>
          <a:p>
            <a:pPr marL="514350" lvl="1" indent="-285750">
              <a:lnSpc>
                <a:spcPct val="120000"/>
              </a:lnSpc>
              <a:buFont typeface="Arial,Sans-Serif"/>
              <a:buChar char="•"/>
            </a:pPr>
            <a:r>
              <a:rPr lang="en-US" sz="2400">
                <a:solidFill>
                  <a:schemeClr val="tx1"/>
                </a:solidFill>
                <a:latin typeface="Aptos Light"/>
              </a:rPr>
              <a:t>Bandwidth, latency in data W/R</a:t>
            </a:r>
          </a:p>
          <a:p>
            <a:pPr marL="285750" indent="-285750">
              <a:lnSpc>
                <a:spcPct val="120000"/>
              </a:lnSpc>
              <a:buFont typeface="Arial,Sans-Serif"/>
              <a:buChar char="•"/>
            </a:pPr>
            <a:r>
              <a:rPr lang="en-US" sz="2400">
                <a:solidFill>
                  <a:schemeClr val="tx1"/>
                </a:solidFill>
                <a:latin typeface="Aptos Light"/>
              </a:rPr>
              <a:t>Design performance</a:t>
            </a:r>
          </a:p>
          <a:p>
            <a:pPr marL="514350" lvl="1" indent="-285750">
              <a:lnSpc>
                <a:spcPct val="120000"/>
              </a:lnSpc>
              <a:buFont typeface="Arial,Sans-Serif"/>
              <a:buChar char="•"/>
            </a:pPr>
            <a:r>
              <a:rPr lang="en-US" sz="2400">
                <a:solidFill>
                  <a:schemeClr val="tx1"/>
                </a:solidFill>
                <a:latin typeface="Aptos Light"/>
              </a:rPr>
              <a:t>Max allowable clock, FPGA space usage</a:t>
            </a:r>
          </a:p>
        </p:txBody>
      </p:sp>
      <p:pic>
        <p:nvPicPr>
          <p:cNvPr id="5" name="Picture 4" descr="A close up of a speedometer&#10;&#10;AI-generated content may be incorrect.">
            <a:extLst>
              <a:ext uri="{FF2B5EF4-FFF2-40B4-BE49-F238E27FC236}">
                <a16:creationId xmlns:a16="http://schemas.microsoft.com/office/drawing/2014/main" id="{5181A0D1-A811-AFE0-BCE2-3BFE1C9A8C50}"/>
              </a:ext>
            </a:extLst>
          </p:cNvPr>
          <p:cNvPicPr>
            <a:picLocks noChangeAspect="1"/>
          </p:cNvPicPr>
          <p:nvPr/>
        </p:nvPicPr>
        <p:blipFill>
          <a:blip r:embed="rId3"/>
          <a:stretch>
            <a:fillRect/>
          </a:stretch>
        </p:blipFill>
        <p:spPr>
          <a:xfrm>
            <a:off x="7773014" y="2237772"/>
            <a:ext cx="3802984" cy="2382456"/>
          </a:xfrm>
          <a:prstGeom prst="rect">
            <a:avLst/>
          </a:prstGeom>
        </p:spPr>
      </p:pic>
      <p:sp>
        <p:nvSpPr>
          <p:cNvPr id="6" name="Date Placeholder 5">
            <a:extLst>
              <a:ext uri="{FF2B5EF4-FFF2-40B4-BE49-F238E27FC236}">
                <a16:creationId xmlns:a16="http://schemas.microsoft.com/office/drawing/2014/main" id="{CC00F2F0-F4FA-18D5-E82D-4C220F45C3AC}"/>
              </a:ext>
            </a:extLst>
          </p:cNvPr>
          <p:cNvSpPr>
            <a:spLocks noGrp="1"/>
          </p:cNvSpPr>
          <p:nvPr>
            <p:ph type="dt" sz="half" idx="10"/>
          </p:nvPr>
        </p:nvSpPr>
        <p:spPr/>
        <p:txBody>
          <a:bodyPr/>
          <a:lstStyle/>
          <a:p>
            <a:fld id="{42B36B28-DA08-42F0-BEBF-97FBB7DE5363}" type="datetime1">
              <a:rPr lang="en-US" smtClean="0"/>
              <a:t>5/4/2026</a:t>
            </a:fld>
            <a:endParaRPr lang="en-US"/>
          </a:p>
        </p:txBody>
      </p:sp>
      <p:sp>
        <p:nvSpPr>
          <p:cNvPr id="7" name="Slide Number Placeholder 6">
            <a:extLst>
              <a:ext uri="{FF2B5EF4-FFF2-40B4-BE49-F238E27FC236}">
                <a16:creationId xmlns:a16="http://schemas.microsoft.com/office/drawing/2014/main" id="{B557065E-5B5A-2355-8E6F-07C6C13E0545}"/>
              </a:ext>
            </a:extLst>
          </p:cNvPr>
          <p:cNvSpPr>
            <a:spLocks noGrp="1"/>
          </p:cNvSpPr>
          <p:nvPr>
            <p:ph type="sldNum" sz="quarter" idx="12"/>
          </p:nvPr>
        </p:nvSpPr>
        <p:spPr/>
        <p:txBody>
          <a:bodyPr/>
          <a:lstStyle/>
          <a:p>
            <a:fld id="{AEAA3239-9EA4-4A65-A281-97F994456D9F}" type="slidenum">
              <a:rPr lang="en-US" smtClean="0"/>
              <a:t>6</a:t>
            </a:fld>
            <a:endParaRPr lang="en-US"/>
          </a:p>
        </p:txBody>
      </p:sp>
    </p:spTree>
    <p:extLst>
      <p:ext uri="{BB962C8B-B14F-4D97-AF65-F5344CB8AC3E}">
        <p14:creationId xmlns:p14="http://schemas.microsoft.com/office/powerpoint/2010/main" val="4062049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0341-4EEB-4E9B-E3BF-1FFEB86CCCE2}"/>
              </a:ext>
            </a:extLst>
          </p:cNvPr>
          <p:cNvSpPr>
            <a:spLocks noGrp="1"/>
          </p:cNvSpPr>
          <p:nvPr>
            <p:ph type="title"/>
          </p:nvPr>
        </p:nvSpPr>
        <p:spPr/>
        <p:txBody>
          <a:bodyPr/>
          <a:lstStyle/>
          <a:p>
            <a:r>
              <a:rPr lang="en-US"/>
              <a:t>Design choices</a:t>
            </a:r>
          </a:p>
        </p:txBody>
      </p:sp>
      <p:sp>
        <p:nvSpPr>
          <p:cNvPr id="3" name="Content Placeholder 2">
            <a:extLst>
              <a:ext uri="{FF2B5EF4-FFF2-40B4-BE49-F238E27FC236}">
                <a16:creationId xmlns:a16="http://schemas.microsoft.com/office/drawing/2014/main" id="{D8D54C15-2550-F222-8CB3-15591CDB2C46}"/>
              </a:ext>
            </a:extLst>
          </p:cNvPr>
          <p:cNvSpPr>
            <a:spLocks noGrp="1"/>
          </p:cNvSpPr>
          <p:nvPr>
            <p:ph idx="1"/>
          </p:nvPr>
        </p:nvSpPr>
        <p:spPr/>
        <p:txBody>
          <a:bodyPr vert="horz" lIns="91440" tIns="45720" rIns="91440" bIns="45720" rtlCol="0" anchor="t">
            <a:noAutofit/>
          </a:bodyPr>
          <a:lstStyle/>
          <a:p>
            <a:pPr marL="285750" indent="-285750">
              <a:lnSpc>
                <a:spcPct val="120000"/>
              </a:lnSpc>
              <a:buFont typeface="Arial,Sans-Serif"/>
              <a:buChar char="•"/>
            </a:pPr>
            <a:r>
              <a:rPr lang="en-US" sz="2400">
                <a:solidFill>
                  <a:schemeClr val="tx1"/>
                </a:solidFill>
                <a:latin typeface="Aptos Light"/>
                <a:ea typeface="Arial"/>
                <a:cs typeface="Arial"/>
              </a:rPr>
              <a:t>FPGA Suite</a:t>
            </a:r>
            <a:endParaRPr lang="en-US" sz="2400" b="0" i="0">
              <a:solidFill>
                <a:schemeClr val="tx1"/>
              </a:solidFill>
              <a:latin typeface="Aptos Light"/>
              <a:ea typeface="Arial"/>
              <a:cs typeface="Arial"/>
            </a:endParaRPr>
          </a:p>
          <a:p>
            <a:pPr marL="514350" lvl="1" indent="-285750">
              <a:lnSpc>
                <a:spcPct val="120000"/>
              </a:lnSpc>
              <a:buFont typeface="Arial,Sans-Serif"/>
              <a:buChar char="•"/>
            </a:pPr>
            <a:r>
              <a:rPr lang="en-US" sz="2000">
                <a:solidFill>
                  <a:schemeClr val="tx1"/>
                </a:solidFill>
                <a:latin typeface="Aptos Light"/>
                <a:ea typeface="Arial"/>
                <a:cs typeface="Arial"/>
              </a:rPr>
              <a:t>AMD or Intel tools and FPGAs</a:t>
            </a:r>
          </a:p>
          <a:p>
            <a:pPr marL="742950" lvl="2" indent="-285750">
              <a:lnSpc>
                <a:spcPct val="120000"/>
              </a:lnSpc>
              <a:buFont typeface="Arial,Sans-Serif"/>
              <a:buChar char="•"/>
            </a:pPr>
            <a:r>
              <a:rPr lang="en-US" sz="2000">
                <a:solidFill>
                  <a:schemeClr val="tx1"/>
                </a:solidFill>
                <a:latin typeface="Aptos Light"/>
                <a:ea typeface="Arial"/>
                <a:cs typeface="Arial"/>
              </a:rPr>
              <a:t>AMD was chosen as the tools are superior</a:t>
            </a:r>
          </a:p>
          <a:p>
            <a:pPr marL="285750" indent="-285750">
              <a:lnSpc>
                <a:spcPct val="120000"/>
              </a:lnSpc>
              <a:buFont typeface="Arial,Sans-Serif"/>
              <a:buChar char="•"/>
            </a:pPr>
            <a:r>
              <a:rPr lang="en-US" sz="2000">
                <a:solidFill>
                  <a:schemeClr val="tx1"/>
                </a:solidFill>
                <a:latin typeface="Aptos Light"/>
                <a:ea typeface="Arial"/>
                <a:cs typeface="Arial"/>
              </a:rPr>
              <a:t>Accelerator</a:t>
            </a:r>
          </a:p>
          <a:p>
            <a:pPr marL="514350" lvl="1" indent="-285750">
              <a:lnSpc>
                <a:spcPct val="120000"/>
              </a:lnSpc>
              <a:buFont typeface="Arial,Sans-Serif"/>
              <a:buChar char="•"/>
            </a:pPr>
            <a:r>
              <a:rPr lang="en-US" sz="2000">
                <a:solidFill>
                  <a:schemeClr val="tx1"/>
                </a:solidFill>
                <a:latin typeface="Aptos Light"/>
                <a:ea typeface="Arial"/>
                <a:cs typeface="Arial"/>
              </a:rPr>
              <a:t>Matrix multiplication was chosen due to its practical nature</a:t>
            </a:r>
          </a:p>
          <a:p>
            <a:pPr marL="514350" lvl="1" indent="-285750">
              <a:lnSpc>
                <a:spcPct val="120000"/>
              </a:lnSpc>
              <a:buFont typeface="Arial,Sans-Serif"/>
              <a:buChar char="•"/>
            </a:pPr>
            <a:r>
              <a:rPr lang="en-US" sz="2000">
                <a:solidFill>
                  <a:schemeClr val="tx1"/>
                </a:solidFill>
                <a:latin typeface="Aptos Light"/>
                <a:ea typeface="Arial"/>
                <a:cs typeface="Arial"/>
              </a:rPr>
              <a:t>Systolic array method was used because it is superior</a:t>
            </a:r>
          </a:p>
          <a:p>
            <a:pPr marL="742950" lvl="2" indent="-285750">
              <a:lnSpc>
                <a:spcPct val="120000"/>
              </a:lnSpc>
              <a:buFont typeface="Arial,Sans-Serif"/>
              <a:buChar char="•"/>
            </a:pPr>
            <a:r>
              <a:rPr lang="en-US" sz="2000">
                <a:solidFill>
                  <a:schemeClr val="tx1"/>
                </a:solidFill>
                <a:latin typeface="Aptos Light"/>
                <a:ea typeface="Arial"/>
                <a:cs typeface="Arial"/>
              </a:rPr>
              <a:t>Performs multiplication faster using parallel compute</a:t>
            </a:r>
          </a:p>
          <a:p>
            <a:pPr marL="514350" lvl="1" indent="-285750">
              <a:lnSpc>
                <a:spcPct val="120000"/>
              </a:lnSpc>
              <a:buFont typeface="Arial,Sans-Serif"/>
              <a:buChar char="•"/>
            </a:pPr>
            <a:r>
              <a:rPr lang="en-US" sz="2000">
                <a:solidFill>
                  <a:schemeClr val="tx1"/>
                </a:solidFill>
                <a:latin typeface="Aptos Light"/>
                <a:ea typeface="Arial"/>
                <a:cs typeface="Arial"/>
              </a:rPr>
              <a:t>Direct memory access</a:t>
            </a:r>
          </a:p>
          <a:p>
            <a:pPr marL="742950" lvl="2" indent="-285750">
              <a:lnSpc>
                <a:spcPct val="120000"/>
              </a:lnSpc>
              <a:buFont typeface="Arial,Sans-Serif"/>
              <a:buChar char="•"/>
            </a:pPr>
            <a:r>
              <a:rPr lang="en-US" sz="2000">
                <a:solidFill>
                  <a:schemeClr val="tx1"/>
                </a:solidFill>
                <a:latin typeface="Aptos Light"/>
                <a:ea typeface="Arial"/>
                <a:cs typeface="Arial"/>
              </a:rPr>
              <a:t>Chosen due to the inconvenience and resource usage of loading data</a:t>
            </a:r>
          </a:p>
          <a:p>
            <a:pPr marL="285750" indent="-285750">
              <a:lnSpc>
                <a:spcPct val="120000"/>
              </a:lnSpc>
              <a:buFont typeface="Arial,Sans-Serif"/>
              <a:buChar char="•"/>
            </a:pPr>
            <a:r>
              <a:rPr lang="en-US" sz="2000">
                <a:solidFill>
                  <a:schemeClr val="tx1"/>
                </a:solidFill>
                <a:latin typeface="Aptos Light"/>
                <a:ea typeface="Arial"/>
                <a:cs typeface="Arial"/>
              </a:rPr>
              <a:t>Vitis</a:t>
            </a:r>
          </a:p>
          <a:p>
            <a:pPr marL="514350" lvl="1" indent="-285750">
              <a:lnSpc>
                <a:spcPct val="120000"/>
              </a:lnSpc>
              <a:buFont typeface="Arial,Sans-Serif"/>
              <a:buChar char="•"/>
            </a:pPr>
            <a:r>
              <a:rPr lang="en-US" sz="2000">
                <a:solidFill>
                  <a:schemeClr val="tx1"/>
                </a:solidFill>
                <a:latin typeface="Aptos Light"/>
                <a:cs typeface="Arial"/>
              </a:rPr>
              <a:t>Chose number identification as a simple and interesting usage of accelerator </a:t>
            </a:r>
          </a:p>
          <a:p>
            <a:endParaRPr lang="en-US">
              <a:cs typeface="Arial"/>
            </a:endParaRPr>
          </a:p>
          <a:p>
            <a:endParaRPr lang="en-US">
              <a:cs typeface="Arial"/>
            </a:endParaRPr>
          </a:p>
        </p:txBody>
      </p:sp>
      <p:pic>
        <p:nvPicPr>
          <p:cNvPr id="4" name="Picture 3" descr="stonks enjenir Meme Generator - Imgflip">
            <a:extLst>
              <a:ext uri="{FF2B5EF4-FFF2-40B4-BE49-F238E27FC236}">
                <a16:creationId xmlns:a16="http://schemas.microsoft.com/office/drawing/2014/main" id="{D9D9CC0F-190C-B3B1-20E3-1EC65870EAD7}"/>
              </a:ext>
            </a:extLst>
          </p:cNvPr>
          <p:cNvPicPr>
            <a:picLocks noChangeAspect="1"/>
          </p:cNvPicPr>
          <p:nvPr/>
        </p:nvPicPr>
        <p:blipFill>
          <a:blip r:embed="rId3"/>
          <a:stretch>
            <a:fillRect/>
          </a:stretch>
        </p:blipFill>
        <p:spPr>
          <a:xfrm>
            <a:off x="7796147" y="775636"/>
            <a:ext cx="4397158" cy="4335963"/>
          </a:xfrm>
          <a:prstGeom prst="rect">
            <a:avLst/>
          </a:prstGeom>
        </p:spPr>
      </p:pic>
      <p:sp>
        <p:nvSpPr>
          <p:cNvPr id="5" name="Date Placeholder 4">
            <a:extLst>
              <a:ext uri="{FF2B5EF4-FFF2-40B4-BE49-F238E27FC236}">
                <a16:creationId xmlns:a16="http://schemas.microsoft.com/office/drawing/2014/main" id="{822C18D3-5743-33F1-7804-856F1F04873D}"/>
              </a:ext>
            </a:extLst>
          </p:cNvPr>
          <p:cNvSpPr>
            <a:spLocks noGrp="1"/>
          </p:cNvSpPr>
          <p:nvPr>
            <p:ph type="dt" sz="half" idx="10"/>
          </p:nvPr>
        </p:nvSpPr>
        <p:spPr/>
        <p:txBody>
          <a:bodyPr/>
          <a:lstStyle/>
          <a:p>
            <a:fld id="{3709EFAC-8DDA-45EF-9E80-84AEB565E4D9}" type="datetime1">
              <a:rPr lang="en-US" smtClean="0"/>
              <a:t>5/4/2026</a:t>
            </a:fld>
            <a:endParaRPr lang="en-US"/>
          </a:p>
        </p:txBody>
      </p:sp>
      <p:sp>
        <p:nvSpPr>
          <p:cNvPr id="6" name="Slide Number Placeholder 5">
            <a:extLst>
              <a:ext uri="{FF2B5EF4-FFF2-40B4-BE49-F238E27FC236}">
                <a16:creationId xmlns:a16="http://schemas.microsoft.com/office/drawing/2014/main" id="{5591B03A-2474-608C-FBCA-8F72249A45F5}"/>
              </a:ext>
            </a:extLst>
          </p:cNvPr>
          <p:cNvSpPr>
            <a:spLocks noGrp="1"/>
          </p:cNvSpPr>
          <p:nvPr>
            <p:ph type="sldNum" sz="quarter" idx="12"/>
          </p:nvPr>
        </p:nvSpPr>
        <p:spPr/>
        <p:txBody>
          <a:bodyPr/>
          <a:lstStyle/>
          <a:p>
            <a:fld id="{AEAA3239-9EA4-4A65-A281-97F994456D9F}" type="slidenum">
              <a:rPr lang="en-US" smtClean="0"/>
              <a:t>7</a:t>
            </a:fld>
            <a:endParaRPr lang="en-US"/>
          </a:p>
        </p:txBody>
      </p:sp>
    </p:spTree>
    <p:extLst>
      <p:ext uri="{BB962C8B-B14F-4D97-AF65-F5344CB8AC3E}">
        <p14:creationId xmlns:p14="http://schemas.microsoft.com/office/powerpoint/2010/main" val="2339245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06E4-D385-B94B-59DC-2E54B2AA07B7}"/>
              </a:ext>
            </a:extLst>
          </p:cNvPr>
          <p:cNvSpPr>
            <a:spLocks noGrp="1"/>
          </p:cNvSpPr>
          <p:nvPr>
            <p:ph type="title"/>
          </p:nvPr>
        </p:nvSpPr>
        <p:spPr/>
        <p:txBody>
          <a:bodyPr/>
          <a:lstStyle/>
          <a:p>
            <a:r>
              <a:rPr lang="en-US"/>
              <a:t>MULTICORE</a:t>
            </a:r>
          </a:p>
        </p:txBody>
      </p:sp>
      <p:sp>
        <p:nvSpPr>
          <p:cNvPr id="4" name="Date Placeholder 3">
            <a:extLst>
              <a:ext uri="{FF2B5EF4-FFF2-40B4-BE49-F238E27FC236}">
                <a16:creationId xmlns:a16="http://schemas.microsoft.com/office/drawing/2014/main" id="{D33F3D85-D764-39D6-51B4-255DDB7EFC84}"/>
              </a:ext>
            </a:extLst>
          </p:cNvPr>
          <p:cNvSpPr>
            <a:spLocks noGrp="1"/>
          </p:cNvSpPr>
          <p:nvPr>
            <p:ph type="dt" sz="half" idx="10"/>
          </p:nvPr>
        </p:nvSpPr>
        <p:spPr/>
        <p:txBody>
          <a:bodyPr/>
          <a:lstStyle/>
          <a:p>
            <a:fld id="{5F5CDFF1-9AC1-4052-AC63-3D5B3E513E98}" type="datetime1">
              <a:rPr lang="en-US" smtClean="0"/>
              <a:t>5/4/2026</a:t>
            </a:fld>
            <a:endParaRPr lang="en-US"/>
          </a:p>
        </p:txBody>
      </p:sp>
      <p:sp>
        <p:nvSpPr>
          <p:cNvPr id="5" name="Slide Number Placeholder 4">
            <a:extLst>
              <a:ext uri="{FF2B5EF4-FFF2-40B4-BE49-F238E27FC236}">
                <a16:creationId xmlns:a16="http://schemas.microsoft.com/office/drawing/2014/main" id="{C8FACF65-BEE1-98EA-9FCF-489FE2BB3ACB}"/>
              </a:ext>
            </a:extLst>
          </p:cNvPr>
          <p:cNvSpPr>
            <a:spLocks noGrp="1"/>
          </p:cNvSpPr>
          <p:nvPr>
            <p:ph type="sldNum" sz="quarter" idx="12"/>
          </p:nvPr>
        </p:nvSpPr>
        <p:spPr/>
        <p:txBody>
          <a:bodyPr/>
          <a:lstStyle/>
          <a:p>
            <a:fld id="{AEAA3239-9EA4-4A65-A281-97F994456D9F}" type="slidenum">
              <a:rPr lang="en-US" smtClean="0"/>
              <a:t>8</a:t>
            </a:fld>
            <a:endParaRPr lang="en-US"/>
          </a:p>
        </p:txBody>
      </p:sp>
      <p:sp>
        <p:nvSpPr>
          <p:cNvPr id="16" name="Content Placeholder 15">
            <a:extLst>
              <a:ext uri="{FF2B5EF4-FFF2-40B4-BE49-F238E27FC236}">
                <a16:creationId xmlns:a16="http://schemas.microsoft.com/office/drawing/2014/main" id="{9533DB40-7D99-5354-DE3B-636589C189EE}"/>
              </a:ext>
            </a:extLst>
          </p:cNvPr>
          <p:cNvSpPr>
            <a:spLocks noGrp="1"/>
          </p:cNvSpPr>
          <p:nvPr>
            <p:ph idx="1"/>
          </p:nvPr>
        </p:nvSpPr>
        <p:spPr/>
        <p:txBody>
          <a:bodyPr vert="horz" lIns="91440" tIns="45720" rIns="91440" bIns="45720" rtlCol="0" anchor="t">
            <a:noAutofit/>
          </a:bodyPr>
          <a:lstStyle/>
          <a:p>
            <a:pPr marL="285750" indent="-285750">
              <a:buFont typeface="Arial,Sans-Serif"/>
              <a:buChar char="•"/>
            </a:pPr>
            <a:r>
              <a:rPr lang="en-US" sz="2400">
                <a:solidFill>
                  <a:srgbClr val="000000"/>
                </a:solidFill>
                <a:latin typeface="Aptos Light"/>
                <a:ea typeface="Arial"/>
                <a:cs typeface="Arial"/>
              </a:rPr>
              <a:t>The connection of 2+ cores</a:t>
            </a:r>
            <a:endParaRPr lang="en-US" sz="2400" b="0" i="0">
              <a:latin typeface="Aptos Light"/>
              <a:ea typeface="Arial"/>
              <a:cs typeface="Arial"/>
            </a:endParaRPr>
          </a:p>
          <a:p>
            <a:pPr marL="514350" lvl="1" indent="-285750">
              <a:buFont typeface="Arial,Sans-Serif"/>
              <a:buChar char="•"/>
            </a:pPr>
            <a:r>
              <a:rPr lang="en-US" sz="2000">
                <a:solidFill>
                  <a:srgbClr val="000000"/>
                </a:solidFill>
                <a:latin typeface="Aptos Light"/>
                <a:ea typeface="Arial"/>
                <a:cs typeface="Arial"/>
              </a:rPr>
              <a:t>Cores must communicate</a:t>
            </a:r>
          </a:p>
          <a:p>
            <a:pPr marL="285750" indent="-285750">
              <a:buFont typeface="Arial,Sans-Serif"/>
              <a:buChar char="•"/>
            </a:pPr>
            <a:r>
              <a:rPr lang="en-US" sz="2000">
                <a:solidFill>
                  <a:srgbClr val="000000"/>
                </a:solidFill>
                <a:latin typeface="Aptos Light"/>
                <a:ea typeface="Arial"/>
                <a:cs typeface="Arial"/>
              </a:rPr>
              <a:t>Issues</a:t>
            </a:r>
          </a:p>
          <a:p>
            <a:pPr marL="514350" lvl="1" indent="-285750">
              <a:buFont typeface="Arial,Sans-Serif"/>
              <a:buChar char="•"/>
            </a:pPr>
            <a:r>
              <a:rPr lang="en-US" sz="2000">
                <a:solidFill>
                  <a:srgbClr val="000000"/>
                </a:solidFill>
                <a:latin typeface="Aptos Light"/>
                <a:ea typeface="Arial"/>
                <a:cs typeface="Arial"/>
              </a:rPr>
              <a:t>Lack of Cache Coherency</a:t>
            </a:r>
          </a:p>
          <a:p>
            <a:pPr marL="742950" lvl="2" indent="-285750">
              <a:buFont typeface="Arial,Sans-Serif"/>
              <a:buChar char="•"/>
            </a:pPr>
            <a:r>
              <a:rPr lang="en-US" sz="2000">
                <a:solidFill>
                  <a:srgbClr val="000000"/>
                </a:solidFill>
                <a:latin typeface="Aptos Light"/>
                <a:ea typeface="Arial"/>
                <a:cs typeface="Arial"/>
              </a:rPr>
              <a:t>Solved by manually managing cache</a:t>
            </a:r>
          </a:p>
          <a:p>
            <a:pPr marL="742950" lvl="2" indent="-285750">
              <a:buFont typeface="Arial,Sans-Serif"/>
              <a:buChar char="•"/>
            </a:pPr>
            <a:r>
              <a:rPr lang="en-US" sz="2000">
                <a:solidFill>
                  <a:srgbClr val="000000"/>
                </a:solidFill>
                <a:latin typeface="Aptos Light"/>
                <a:ea typeface="Arial"/>
                <a:cs typeface="Arial"/>
              </a:rPr>
              <a:t>Cache coherency is available for more advanced FPGAs</a:t>
            </a:r>
          </a:p>
          <a:p>
            <a:pPr marL="514350" lvl="1" indent="-285750">
              <a:buFont typeface="Arial,Sans-Serif"/>
              <a:buChar char="•"/>
            </a:pPr>
            <a:r>
              <a:rPr lang="en-US" sz="2000">
                <a:solidFill>
                  <a:srgbClr val="000000"/>
                </a:solidFill>
                <a:latin typeface="Aptos Light"/>
                <a:ea typeface="Arial"/>
                <a:cs typeface="Arial"/>
              </a:rPr>
              <a:t>Core identification and Reset vector</a:t>
            </a:r>
          </a:p>
          <a:p>
            <a:pPr marL="742950" lvl="2" indent="-285750">
              <a:buFont typeface="Arial,Sans-Serif"/>
              <a:buChar char="•"/>
            </a:pPr>
            <a:r>
              <a:rPr lang="en-US" sz="2000">
                <a:solidFill>
                  <a:srgbClr val="000000"/>
                </a:solidFill>
                <a:latin typeface="Aptos Light"/>
                <a:ea typeface="Arial"/>
                <a:cs typeface="Arial"/>
              </a:rPr>
              <a:t>Each core has unique machine thread id (</a:t>
            </a:r>
            <a:r>
              <a:rPr lang="en-US" sz="2000" err="1">
                <a:solidFill>
                  <a:srgbClr val="000000"/>
                </a:solidFill>
                <a:latin typeface="Aptos Light"/>
                <a:ea typeface="Arial"/>
                <a:cs typeface="Arial"/>
              </a:rPr>
              <a:t>MhartId</a:t>
            </a:r>
            <a:r>
              <a:rPr lang="en-US" sz="2000">
                <a:solidFill>
                  <a:srgbClr val="000000"/>
                </a:solidFill>
                <a:latin typeface="Aptos Light"/>
                <a:ea typeface="Arial"/>
                <a:cs typeface="Arial"/>
              </a:rPr>
              <a:t>)</a:t>
            </a:r>
          </a:p>
          <a:p>
            <a:pPr marL="742950" lvl="2" indent="-285750">
              <a:buFont typeface="Arial,Sans-Serif"/>
              <a:buChar char="•"/>
            </a:pPr>
            <a:r>
              <a:rPr lang="en-US" sz="2000">
                <a:solidFill>
                  <a:srgbClr val="000000"/>
                </a:solidFill>
                <a:latin typeface="Aptos Light"/>
                <a:ea typeface="Arial"/>
                <a:cs typeface="Arial"/>
              </a:rPr>
              <a:t>Each core has unique reset vector</a:t>
            </a:r>
          </a:p>
          <a:p>
            <a:pPr marL="971550" lvl="3" indent="-285750">
              <a:buFont typeface="Arial,Sans-Serif"/>
              <a:buChar char="•"/>
            </a:pPr>
            <a:r>
              <a:rPr lang="en-US" sz="2000">
                <a:solidFill>
                  <a:srgbClr val="000000"/>
                </a:solidFill>
                <a:latin typeface="Aptos Light"/>
                <a:ea typeface="Arial"/>
                <a:cs typeface="Arial"/>
              </a:rPr>
              <a:t>Without unique vector special measures must be taken</a:t>
            </a:r>
          </a:p>
          <a:p>
            <a:pPr marL="285750" indent="-285750">
              <a:buFont typeface="Arial,Sans-Serif"/>
              <a:buChar char="•"/>
            </a:pPr>
            <a:r>
              <a:rPr lang="en-US" sz="2000">
                <a:solidFill>
                  <a:srgbClr val="000000"/>
                </a:solidFill>
                <a:latin typeface="Aptos Light"/>
                <a:ea typeface="Arial"/>
                <a:cs typeface="Arial"/>
              </a:rPr>
              <a:t>Tested with two core matrix multiplication Result in minicom --&gt;</a:t>
            </a:r>
          </a:p>
          <a:p>
            <a:pPr marL="514350" lvl="1" indent="-285750">
              <a:buFont typeface="Arial,Sans-Serif"/>
              <a:buChar char="•"/>
            </a:pPr>
            <a:r>
              <a:rPr lang="en-US" sz="2000">
                <a:solidFill>
                  <a:srgbClr val="000000"/>
                </a:solidFill>
                <a:latin typeface="Aptos Light"/>
                <a:ea typeface="Arial"/>
                <a:cs typeface="Arial"/>
              </a:rPr>
              <a:t>Test was successful</a:t>
            </a:r>
          </a:p>
        </p:txBody>
      </p:sp>
      <p:pic>
        <p:nvPicPr>
          <p:cNvPr id="17" name="Picture 16">
            <a:extLst>
              <a:ext uri="{FF2B5EF4-FFF2-40B4-BE49-F238E27FC236}">
                <a16:creationId xmlns:a16="http://schemas.microsoft.com/office/drawing/2014/main" id="{6C4157E9-1BEF-8353-333A-049730981BC3}"/>
              </a:ext>
            </a:extLst>
          </p:cNvPr>
          <p:cNvPicPr>
            <a:picLocks noChangeAspect="1"/>
          </p:cNvPicPr>
          <p:nvPr/>
        </p:nvPicPr>
        <p:blipFill>
          <a:blip r:embed="rId2"/>
          <a:stretch>
            <a:fillRect/>
          </a:stretch>
        </p:blipFill>
        <p:spPr>
          <a:xfrm>
            <a:off x="4791206" y="205482"/>
            <a:ext cx="6784931" cy="3263337"/>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A0225602-A09C-E651-89D3-6EFDEA600D5A}"/>
              </a:ext>
            </a:extLst>
          </p:cNvPr>
          <p:cNvPicPr>
            <a:picLocks noChangeAspect="1"/>
          </p:cNvPicPr>
          <p:nvPr/>
        </p:nvPicPr>
        <p:blipFill>
          <a:blip r:embed="rId3"/>
          <a:srcRect l="2953" t="50056" r="74402" b="21129"/>
          <a:stretch>
            <a:fillRect/>
          </a:stretch>
        </p:blipFill>
        <p:spPr>
          <a:xfrm>
            <a:off x="8068398" y="3650906"/>
            <a:ext cx="2907701" cy="2525971"/>
          </a:xfrm>
          <a:prstGeom prst="rect">
            <a:avLst/>
          </a:prstGeom>
        </p:spPr>
      </p:pic>
    </p:spTree>
    <p:extLst>
      <p:ext uri="{BB962C8B-B14F-4D97-AF65-F5344CB8AC3E}">
        <p14:creationId xmlns:p14="http://schemas.microsoft.com/office/powerpoint/2010/main" val="2897269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5E0E-22B1-D5A6-C80C-E689708F1C48}"/>
              </a:ext>
            </a:extLst>
          </p:cNvPr>
          <p:cNvSpPr>
            <a:spLocks noGrp="1"/>
          </p:cNvSpPr>
          <p:nvPr>
            <p:ph type="title"/>
          </p:nvPr>
        </p:nvSpPr>
        <p:spPr/>
        <p:txBody>
          <a:bodyPr/>
          <a:lstStyle/>
          <a:p>
            <a:r>
              <a:rPr lang="en-US" dirty="0"/>
              <a:t>Accelerator</a:t>
            </a:r>
          </a:p>
        </p:txBody>
      </p:sp>
      <p:sp>
        <p:nvSpPr>
          <p:cNvPr id="3" name="Content Placeholder 2">
            <a:extLst>
              <a:ext uri="{FF2B5EF4-FFF2-40B4-BE49-F238E27FC236}">
                <a16:creationId xmlns:a16="http://schemas.microsoft.com/office/drawing/2014/main" id="{6BC354F4-5053-6184-08A0-CE3EEFA1C04A}"/>
              </a:ext>
            </a:extLst>
          </p:cNvPr>
          <p:cNvSpPr>
            <a:spLocks noGrp="1"/>
          </p:cNvSpPr>
          <p:nvPr>
            <p:ph idx="1"/>
          </p:nvPr>
        </p:nvSpPr>
        <p:spPr/>
        <p:txBody>
          <a:bodyPr/>
          <a:lstStyle/>
          <a:p>
            <a:pPr marL="285750" indent="-285750">
              <a:buFont typeface="Arial" panose="020B0604020202020204" pitchFamily="34" charset="0"/>
              <a:buChar char="•"/>
            </a:pPr>
            <a:r>
              <a:rPr lang="en-US" sz="2000" dirty="0"/>
              <a:t>Multicore Design Worked Well However :</a:t>
            </a:r>
          </a:p>
          <a:p>
            <a:pPr marL="514350" lvl="1" indent="-285750">
              <a:buFont typeface="Arial" panose="020B0604020202020204" pitchFamily="34" charset="0"/>
              <a:buChar char="•"/>
            </a:pPr>
            <a:r>
              <a:rPr lang="en-US" sz="1800" dirty="0" err="1"/>
              <a:t>MicroBlaze</a:t>
            </a:r>
            <a:r>
              <a:rPr lang="en-US" sz="1800" dirty="0"/>
              <a:t> V is free to use but logic is not open source </a:t>
            </a:r>
            <a:r>
              <a:rPr lang="en-US" sz="1800" dirty="0">
                <a:sym typeface="Wingdings" panose="05000000000000000000" pitchFamily="2" charset="2"/>
              </a:rPr>
              <a:t></a:t>
            </a:r>
            <a:endParaRPr lang="en-US" sz="1800" dirty="0"/>
          </a:p>
          <a:p>
            <a:pPr marL="742950" lvl="2" indent="-285750">
              <a:buFont typeface="Arial" panose="020B0604020202020204" pitchFamily="34" charset="0"/>
              <a:buChar char="•"/>
            </a:pPr>
            <a:r>
              <a:rPr lang="en-US" sz="1600" dirty="0"/>
              <a:t>Need access to its internal pipeline stages</a:t>
            </a:r>
          </a:p>
          <a:p>
            <a:pPr marL="514350" lvl="1" indent="-285750">
              <a:buFont typeface="Arial" panose="020B0604020202020204" pitchFamily="34" charset="0"/>
              <a:buChar char="•"/>
            </a:pPr>
            <a:r>
              <a:rPr lang="en-US" sz="1800" dirty="0"/>
              <a:t>Takes up a large number of resources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Has multiple use cases </a:t>
            </a:r>
            <a:r>
              <a:rPr lang="en-US" sz="1800" dirty="0">
                <a:sym typeface="Wingdings" panose="05000000000000000000" pitchFamily="2" charset="2"/>
              </a:rPr>
              <a:t></a:t>
            </a:r>
            <a:endParaRPr lang="en-US" sz="18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Accelerator</a:t>
            </a:r>
          </a:p>
          <a:p>
            <a:pPr marL="514350" lvl="1" indent="-285750">
              <a:buFont typeface="Arial" panose="020B0604020202020204" pitchFamily="34" charset="0"/>
              <a:buChar char="•"/>
            </a:pPr>
            <a:r>
              <a:rPr lang="en-US" sz="1800" dirty="0"/>
              <a:t>Customizable to our design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Specialized for our specific use case (matrix multiplication)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Takes up much smaller number of resources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Has only one use case </a:t>
            </a:r>
            <a:r>
              <a:rPr lang="en-US" sz="1800" dirty="0">
                <a:sym typeface="Wingdings" panose="05000000000000000000" pitchFamily="2" charset="2"/>
              </a:rPr>
              <a:t></a:t>
            </a:r>
          </a:p>
          <a:p>
            <a:pPr marL="514350" lvl="1" indent="-285750">
              <a:buFont typeface="Arial" panose="020B0604020202020204" pitchFamily="34" charset="0"/>
              <a:buChar char="•"/>
            </a:pPr>
            <a:r>
              <a:rPr lang="en-US" sz="1800" dirty="0">
                <a:sym typeface="Wingdings" panose="05000000000000000000" pitchFamily="2" charset="2"/>
              </a:rPr>
              <a:t>Can use direct memory access </a:t>
            </a:r>
          </a:p>
          <a:p>
            <a:pPr marL="514350" lvl="1" indent="-285750">
              <a:buFont typeface="Arial" panose="020B0604020202020204" pitchFamily="34" charset="0"/>
              <a:buChar char="•"/>
            </a:pPr>
            <a:r>
              <a:rPr lang="en-US" sz="1800" dirty="0">
                <a:sym typeface="Wingdings" panose="05000000000000000000" pitchFamily="2" charset="2"/>
              </a:rPr>
              <a:t>Much faster </a:t>
            </a:r>
            <a:endParaRPr lang="en-US" sz="1800" dirty="0"/>
          </a:p>
        </p:txBody>
      </p:sp>
      <p:sp>
        <p:nvSpPr>
          <p:cNvPr id="4" name="Date Placeholder 3">
            <a:extLst>
              <a:ext uri="{FF2B5EF4-FFF2-40B4-BE49-F238E27FC236}">
                <a16:creationId xmlns:a16="http://schemas.microsoft.com/office/drawing/2014/main" id="{F1CAFFC0-224A-82D7-7972-9F653D3A9012}"/>
              </a:ext>
            </a:extLst>
          </p:cNvPr>
          <p:cNvSpPr>
            <a:spLocks noGrp="1"/>
          </p:cNvSpPr>
          <p:nvPr>
            <p:ph type="dt" sz="half" idx="10"/>
          </p:nvPr>
        </p:nvSpPr>
        <p:spPr/>
        <p:txBody>
          <a:bodyPr/>
          <a:lstStyle/>
          <a:p>
            <a:fld id="{5F5CDFF1-9AC1-4052-AC63-3D5B3E513E98}" type="datetime1">
              <a:rPr lang="en-US" smtClean="0"/>
              <a:t>5/4/2026</a:t>
            </a:fld>
            <a:endParaRPr lang="en-US"/>
          </a:p>
        </p:txBody>
      </p:sp>
      <p:sp>
        <p:nvSpPr>
          <p:cNvPr id="5" name="Slide Number Placeholder 4">
            <a:extLst>
              <a:ext uri="{FF2B5EF4-FFF2-40B4-BE49-F238E27FC236}">
                <a16:creationId xmlns:a16="http://schemas.microsoft.com/office/drawing/2014/main" id="{97DD4708-DCE7-BCA2-6FBF-B7AB21DF1795}"/>
              </a:ext>
            </a:extLst>
          </p:cNvPr>
          <p:cNvSpPr>
            <a:spLocks noGrp="1"/>
          </p:cNvSpPr>
          <p:nvPr>
            <p:ph type="sldNum" sz="quarter" idx="12"/>
          </p:nvPr>
        </p:nvSpPr>
        <p:spPr/>
        <p:txBody>
          <a:bodyPr/>
          <a:lstStyle/>
          <a:p>
            <a:fld id="{AEAA3239-9EA4-4A65-A281-97F994456D9F}" type="slidenum">
              <a:rPr lang="en-US" smtClean="0"/>
              <a:t>9</a:t>
            </a:fld>
            <a:endParaRPr lang="en-US"/>
          </a:p>
        </p:txBody>
      </p:sp>
      <p:pic>
        <p:nvPicPr>
          <p:cNvPr id="7" name="Picture 6">
            <a:extLst>
              <a:ext uri="{FF2B5EF4-FFF2-40B4-BE49-F238E27FC236}">
                <a16:creationId xmlns:a16="http://schemas.microsoft.com/office/drawing/2014/main" id="{C01A1A4E-BE63-57D9-58F4-8885C3AAE34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58604" y="552069"/>
            <a:ext cx="4474899" cy="3004947"/>
          </a:xfrm>
          <a:prstGeom prst="rect">
            <a:avLst/>
          </a:prstGeom>
        </p:spPr>
      </p:pic>
      <p:pic>
        <p:nvPicPr>
          <p:cNvPr id="9" name="Picture 8">
            <a:extLst>
              <a:ext uri="{FF2B5EF4-FFF2-40B4-BE49-F238E27FC236}">
                <a16:creationId xmlns:a16="http://schemas.microsoft.com/office/drawing/2014/main" id="{AF96D993-0D59-25E1-E17C-505023C6B42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885977" y="3583290"/>
            <a:ext cx="3712143" cy="2792485"/>
          </a:xfrm>
          <a:prstGeom prst="rect">
            <a:avLst/>
          </a:prstGeom>
        </p:spPr>
      </p:pic>
    </p:spTree>
    <p:extLst>
      <p:ext uri="{BB962C8B-B14F-4D97-AF65-F5344CB8AC3E}">
        <p14:creationId xmlns:p14="http://schemas.microsoft.com/office/powerpoint/2010/main" val="3356001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0CC0A-0129-D8ED-B17E-1933ECE27E75}"/>
              </a:ext>
            </a:extLst>
          </p:cNvPr>
          <p:cNvSpPr>
            <a:spLocks noGrp="1"/>
          </p:cNvSpPr>
          <p:nvPr>
            <p:ph type="title"/>
          </p:nvPr>
        </p:nvSpPr>
        <p:spPr>
          <a:xfrm>
            <a:off x="615698" y="361013"/>
            <a:ext cx="3364992" cy="1996301"/>
          </a:xfrm>
        </p:spPr>
        <p:txBody>
          <a:bodyPr anchor="b">
            <a:normAutofit/>
          </a:bodyPr>
          <a:lstStyle/>
          <a:p>
            <a:r>
              <a:rPr lang="en-US" sz="4600"/>
              <a:t>Block Diagram: Simplified</a:t>
            </a:r>
          </a:p>
        </p:txBody>
      </p:sp>
      <p:sp>
        <p:nvSpPr>
          <p:cNvPr id="9" name="Content Placeholder 2">
            <a:extLst>
              <a:ext uri="{FF2B5EF4-FFF2-40B4-BE49-F238E27FC236}">
                <a16:creationId xmlns:a16="http://schemas.microsoft.com/office/drawing/2014/main" id="{9F871D04-2BDA-81C5-01FB-6C7621D10734}"/>
              </a:ext>
            </a:extLst>
          </p:cNvPr>
          <p:cNvSpPr>
            <a:spLocks noGrp="1"/>
          </p:cNvSpPr>
          <p:nvPr>
            <p:ph sz="quarter" idx="14"/>
          </p:nvPr>
        </p:nvSpPr>
        <p:spPr>
          <a:xfrm>
            <a:off x="215960" y="2680491"/>
            <a:ext cx="3902139" cy="3809478"/>
          </a:xfrm>
        </p:spPr>
        <p:txBody>
          <a:bodyPr vert="horz" lIns="91440" tIns="45720" rIns="91440" bIns="45720" rtlCol="0" anchor="t">
            <a:noAutofit/>
          </a:bodyPr>
          <a:lstStyle/>
          <a:p>
            <a:pPr marL="285750" indent="-285750">
              <a:buChar char="•"/>
            </a:pPr>
            <a:r>
              <a:rPr lang="en-US" sz="2000" dirty="0" err="1"/>
              <a:t>MicroBlaze</a:t>
            </a:r>
            <a:r>
              <a:rPr lang="en-US" sz="2000" dirty="0"/>
              <a:t> V</a:t>
            </a:r>
          </a:p>
          <a:p>
            <a:pPr marL="514350" lvl="1" indent="-285750">
              <a:buFont typeface="Courier New" panose="020B0604020202020204" pitchFamily="34" charset="0"/>
              <a:buChar char="o"/>
            </a:pPr>
            <a:r>
              <a:rPr lang="en-US" sz="1800"/>
              <a:t>Main processor running the code</a:t>
            </a:r>
            <a:endParaRPr lang="en-US" sz="1800" dirty="0"/>
          </a:p>
          <a:p>
            <a:pPr marL="285750" indent="-285750">
              <a:buFont typeface="Arial" panose="020B0604020202020204" pitchFamily="34" charset="0"/>
              <a:buChar char="•"/>
            </a:pPr>
            <a:r>
              <a:rPr lang="en-US" sz="2000"/>
              <a:t>Smart Connect </a:t>
            </a:r>
            <a:endParaRPr lang="en-US" sz="2000" dirty="0"/>
          </a:p>
          <a:p>
            <a:pPr marL="514350" lvl="1" indent="-285750">
              <a:buFont typeface="Courier New" panose="020B0604020202020204" pitchFamily="34" charset="0"/>
              <a:buChar char="o"/>
            </a:pPr>
            <a:r>
              <a:rPr lang="en-US" sz="1800"/>
              <a:t>Communication to all components through AXI</a:t>
            </a:r>
            <a:endParaRPr lang="en-US" sz="1800" dirty="0"/>
          </a:p>
          <a:p>
            <a:pPr marL="285750" indent="-285750">
              <a:buFont typeface="Arial" panose="020B0604020202020204" pitchFamily="34" charset="0"/>
              <a:buChar char="•"/>
            </a:pPr>
            <a:r>
              <a:rPr lang="en-US" sz="2000"/>
              <a:t>DMAs</a:t>
            </a:r>
            <a:endParaRPr lang="en-US" sz="2000" dirty="0"/>
          </a:p>
          <a:p>
            <a:pPr marL="514350" lvl="1" indent="-285750">
              <a:buFont typeface="Courier New" panose="020B0604020202020204" pitchFamily="34" charset="0"/>
              <a:buChar char="o"/>
            </a:pPr>
            <a:r>
              <a:rPr lang="en-US" sz="1800"/>
              <a:t>Stream input/output matrices to our accelerator.</a:t>
            </a:r>
            <a:endParaRPr lang="en-US" sz="1800" dirty="0"/>
          </a:p>
          <a:p>
            <a:pPr marL="285750" indent="-285750">
              <a:buFont typeface="Arial" panose="020B0604020202020204" pitchFamily="34" charset="0"/>
              <a:buChar char="•"/>
            </a:pPr>
            <a:r>
              <a:rPr lang="en-US" sz="2000"/>
              <a:t>DDR 2</a:t>
            </a:r>
            <a:endParaRPr lang="en-US" sz="2000" dirty="0"/>
          </a:p>
          <a:p>
            <a:pPr marL="514350" lvl="1" indent="-285750">
              <a:buFont typeface="Courier New" panose="020B0604020202020204" pitchFamily="34" charset="0"/>
              <a:buChar char="o"/>
            </a:pPr>
            <a:r>
              <a:rPr lang="en-US" sz="1800"/>
              <a:t>Main memory, storing all data.</a:t>
            </a:r>
          </a:p>
        </p:txBody>
      </p:sp>
      <p:pic>
        <p:nvPicPr>
          <p:cNvPr id="4" name="Content Placeholder 3" descr="A diagram of a computer network&#10;&#10;AI-generated content may be incorrect.">
            <a:extLst>
              <a:ext uri="{FF2B5EF4-FFF2-40B4-BE49-F238E27FC236}">
                <a16:creationId xmlns:a16="http://schemas.microsoft.com/office/drawing/2014/main" id="{0E509061-9674-FE72-55FA-D6040C560E85}"/>
              </a:ext>
            </a:extLst>
          </p:cNvPr>
          <p:cNvPicPr>
            <a:picLocks noGrp="1" noChangeAspect="1"/>
          </p:cNvPicPr>
          <p:nvPr>
            <p:ph type="pic" sz="quarter" idx="13"/>
          </p:nvPr>
        </p:nvPicPr>
        <p:blipFill>
          <a:blip r:embed="rId3"/>
          <a:stretch/>
        </p:blipFill>
        <p:spPr>
          <a:xfrm>
            <a:off x="4607856" y="945193"/>
            <a:ext cx="7584144" cy="4967613"/>
          </a:xfrm>
          <a:prstGeom prst="rect">
            <a:avLst/>
          </a:prstGeom>
          <a:noFill/>
        </p:spPr>
      </p:pic>
      <p:sp>
        <p:nvSpPr>
          <p:cNvPr id="3" name="Date Placeholder 2">
            <a:extLst>
              <a:ext uri="{FF2B5EF4-FFF2-40B4-BE49-F238E27FC236}">
                <a16:creationId xmlns:a16="http://schemas.microsoft.com/office/drawing/2014/main" id="{C422F956-34EB-F4C0-DDB9-58F82C2F1122}"/>
              </a:ext>
            </a:extLst>
          </p:cNvPr>
          <p:cNvSpPr>
            <a:spLocks noGrp="1"/>
          </p:cNvSpPr>
          <p:nvPr>
            <p:ph type="dt" sz="half" idx="15"/>
          </p:nvPr>
        </p:nvSpPr>
        <p:spPr>
          <a:xfrm>
            <a:off x="10811639" y="6279947"/>
            <a:ext cx="922372" cy="365125"/>
          </a:xfrm>
        </p:spPr>
        <p:txBody>
          <a:bodyPr/>
          <a:lstStyle/>
          <a:p>
            <a:fld id="{42653F0F-175D-4A21-8B66-4871C91C602F}" type="datetime1">
              <a:rPr lang="en-US" smtClean="0"/>
              <a:t>5/4/2026</a:t>
            </a:fld>
            <a:endParaRPr lang="en-US" dirty="0"/>
          </a:p>
        </p:txBody>
      </p:sp>
      <p:sp>
        <p:nvSpPr>
          <p:cNvPr id="5" name="Slide Number Placeholder 4">
            <a:extLst>
              <a:ext uri="{FF2B5EF4-FFF2-40B4-BE49-F238E27FC236}">
                <a16:creationId xmlns:a16="http://schemas.microsoft.com/office/drawing/2014/main" id="{F21E1013-2265-756A-0F74-352FD1DB2E0C}"/>
              </a:ext>
            </a:extLst>
          </p:cNvPr>
          <p:cNvSpPr>
            <a:spLocks noGrp="1"/>
          </p:cNvSpPr>
          <p:nvPr>
            <p:ph type="sldNum" sz="quarter" idx="17"/>
          </p:nvPr>
        </p:nvSpPr>
        <p:spPr>
          <a:xfrm>
            <a:off x="11496267" y="6279947"/>
            <a:ext cx="429207" cy="365125"/>
          </a:xfrm>
        </p:spPr>
        <p:txBody>
          <a:bodyPr/>
          <a:lstStyle/>
          <a:p>
            <a:fld id="{AEAA3239-9EA4-4A65-A281-97F994456D9F}" type="slidenum">
              <a:rPr lang="en-US" smtClean="0"/>
              <a:t>10</a:t>
            </a:fld>
            <a:endParaRPr lang="en-US" dirty="0"/>
          </a:p>
        </p:txBody>
      </p:sp>
    </p:spTree>
    <p:extLst>
      <p:ext uri="{BB962C8B-B14F-4D97-AF65-F5344CB8AC3E}">
        <p14:creationId xmlns:p14="http://schemas.microsoft.com/office/powerpoint/2010/main" val="4161490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243F0CB-766A-C7A5-015C-EBE321FB37E9}"/>
              </a:ext>
            </a:extLst>
          </p:cNvPr>
          <p:cNvSpPr>
            <a:spLocks noGrp="1"/>
          </p:cNvSpPr>
          <p:nvPr>
            <p:ph type="title"/>
          </p:nvPr>
        </p:nvSpPr>
        <p:spPr>
          <a:xfrm>
            <a:off x="612648" y="685800"/>
            <a:ext cx="10963655" cy="762001"/>
          </a:xfrm>
        </p:spPr>
        <p:txBody>
          <a:bodyPr anchor="b">
            <a:normAutofit/>
          </a:bodyPr>
          <a:lstStyle/>
          <a:p>
            <a:r>
              <a:rPr lang="en-US"/>
              <a:t>Detailed Block Diagram </a:t>
            </a:r>
          </a:p>
        </p:txBody>
      </p:sp>
      <p:pic>
        <p:nvPicPr>
          <p:cNvPr id="4" name="Content Placeholder 3" descr="A diagram of a computer system&#10;&#10;AI-generated content may be incorrect.">
            <a:extLst>
              <a:ext uri="{FF2B5EF4-FFF2-40B4-BE49-F238E27FC236}">
                <a16:creationId xmlns:a16="http://schemas.microsoft.com/office/drawing/2014/main" id="{7DECBA0F-6D6C-57D0-56CD-93525B98E60B}"/>
              </a:ext>
            </a:extLst>
          </p:cNvPr>
          <p:cNvPicPr>
            <a:picLocks noGrp="1" noChangeAspect="1"/>
          </p:cNvPicPr>
          <p:nvPr>
            <p:ph idx="1"/>
          </p:nvPr>
        </p:nvPicPr>
        <p:blipFill>
          <a:blip r:embed="rId3"/>
          <a:stretch>
            <a:fillRect/>
          </a:stretch>
        </p:blipFill>
        <p:spPr>
          <a:xfrm>
            <a:off x="617078" y="1716375"/>
            <a:ext cx="10967284" cy="4730645"/>
          </a:xfrm>
          <a:prstGeom prst="rect">
            <a:avLst/>
          </a:prstGeom>
          <a:noFill/>
        </p:spPr>
      </p:pic>
      <p:sp>
        <p:nvSpPr>
          <p:cNvPr id="2" name="Date Placeholder 1">
            <a:extLst>
              <a:ext uri="{FF2B5EF4-FFF2-40B4-BE49-F238E27FC236}">
                <a16:creationId xmlns:a16="http://schemas.microsoft.com/office/drawing/2014/main" id="{BED3F1A4-6E5B-C92C-6289-2D92FCC1C98C}"/>
              </a:ext>
            </a:extLst>
          </p:cNvPr>
          <p:cNvSpPr>
            <a:spLocks noGrp="1"/>
          </p:cNvSpPr>
          <p:nvPr>
            <p:ph type="dt" sz="half" idx="10"/>
          </p:nvPr>
        </p:nvSpPr>
        <p:spPr/>
        <p:txBody>
          <a:bodyPr/>
          <a:lstStyle/>
          <a:p>
            <a:fld id="{8B0BE3D8-6412-465F-9A0A-F6D442F25A47}" type="datetime1">
              <a:rPr lang="en-US" smtClean="0"/>
              <a:t>5/4/2026</a:t>
            </a:fld>
            <a:endParaRPr lang="en-US"/>
          </a:p>
        </p:txBody>
      </p:sp>
      <p:sp>
        <p:nvSpPr>
          <p:cNvPr id="3" name="Slide Number Placeholder 2">
            <a:extLst>
              <a:ext uri="{FF2B5EF4-FFF2-40B4-BE49-F238E27FC236}">
                <a16:creationId xmlns:a16="http://schemas.microsoft.com/office/drawing/2014/main" id="{F11F972F-3B5C-8661-73A2-C17EB4F80D4F}"/>
              </a:ext>
            </a:extLst>
          </p:cNvPr>
          <p:cNvSpPr>
            <a:spLocks noGrp="1"/>
          </p:cNvSpPr>
          <p:nvPr>
            <p:ph type="sldNum" sz="quarter" idx="12"/>
          </p:nvPr>
        </p:nvSpPr>
        <p:spPr/>
        <p:txBody>
          <a:bodyPr/>
          <a:lstStyle/>
          <a:p>
            <a:fld id="{AEAA3239-9EA4-4A65-A281-97F994456D9F}" type="slidenum">
              <a:rPr lang="en-US" smtClean="0"/>
              <a:t>11</a:t>
            </a:fld>
            <a:endParaRPr lang="en-US"/>
          </a:p>
        </p:txBody>
      </p:sp>
      <p:sp>
        <p:nvSpPr>
          <p:cNvPr id="14" name="TextBox 13">
            <a:extLst>
              <a:ext uri="{FF2B5EF4-FFF2-40B4-BE49-F238E27FC236}">
                <a16:creationId xmlns:a16="http://schemas.microsoft.com/office/drawing/2014/main" id="{346CBC2A-07D7-1127-E1FA-BD2F31589F5C}"/>
              </a:ext>
            </a:extLst>
          </p:cNvPr>
          <p:cNvSpPr txBox="1"/>
          <p:nvPr/>
        </p:nvSpPr>
        <p:spPr>
          <a:xfrm>
            <a:off x="8083296" y="2121408"/>
            <a:ext cx="2578608" cy="646331"/>
          </a:xfrm>
          <a:prstGeom prst="rect">
            <a:avLst/>
          </a:prstGeom>
          <a:noFill/>
        </p:spPr>
        <p:txBody>
          <a:bodyPr wrap="square" rtlCol="0">
            <a:spAutoFit/>
          </a:bodyPr>
          <a:lstStyle/>
          <a:p>
            <a:r>
              <a:rPr lang="en-US" dirty="0"/>
              <a:t>APM measures bus at output of accelerator</a:t>
            </a:r>
          </a:p>
        </p:txBody>
      </p:sp>
    </p:spTree>
    <p:extLst>
      <p:ext uri="{BB962C8B-B14F-4D97-AF65-F5344CB8AC3E}">
        <p14:creationId xmlns:p14="http://schemas.microsoft.com/office/powerpoint/2010/main" val="393330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AF51E-AEA4-2652-DC7A-C9061C0A81D3}"/>
              </a:ext>
            </a:extLst>
          </p:cNvPr>
          <p:cNvSpPr>
            <a:spLocks noGrp="1"/>
          </p:cNvSpPr>
          <p:nvPr>
            <p:ph type="title"/>
          </p:nvPr>
        </p:nvSpPr>
        <p:spPr/>
        <p:txBody>
          <a:bodyPr/>
          <a:lstStyle/>
          <a:p>
            <a:r>
              <a:rPr lang="en-US"/>
              <a:t>Testing</a:t>
            </a:r>
          </a:p>
        </p:txBody>
      </p:sp>
      <p:sp>
        <p:nvSpPr>
          <p:cNvPr id="3" name="Content Placeholder 2">
            <a:extLst>
              <a:ext uri="{FF2B5EF4-FFF2-40B4-BE49-F238E27FC236}">
                <a16:creationId xmlns:a16="http://schemas.microsoft.com/office/drawing/2014/main" id="{87F328A9-E5C3-016F-F1EC-7C8CEDB139B2}"/>
              </a:ext>
            </a:extLst>
          </p:cNvPr>
          <p:cNvSpPr>
            <a:spLocks noGrp="1"/>
          </p:cNvSpPr>
          <p:nvPr>
            <p:ph idx="1"/>
          </p:nvPr>
        </p:nvSpPr>
        <p:spPr>
          <a:xfrm>
            <a:off x="339109" y="1711570"/>
            <a:ext cx="8052425" cy="4646245"/>
          </a:xfrm>
        </p:spPr>
        <p:txBody>
          <a:bodyPr vert="horz" lIns="91440" tIns="45720" rIns="91440" bIns="45720" rtlCol="0" anchor="t">
            <a:noAutofit/>
          </a:bodyPr>
          <a:lstStyle/>
          <a:p>
            <a:pPr marL="285750" indent="-285750">
              <a:buChar char="•"/>
            </a:pPr>
            <a:r>
              <a:rPr lang="en-US" sz="2400" dirty="0"/>
              <a:t>What metrics do we want to test?</a:t>
            </a:r>
          </a:p>
          <a:p>
            <a:pPr marL="514350" lvl="1" indent="-285750">
              <a:buFont typeface="Courier New" panose="020B0604020202020204" pitchFamily="34" charset="0"/>
              <a:buChar char="o"/>
            </a:pPr>
            <a:r>
              <a:rPr lang="en-US" sz="1800" dirty="0"/>
              <a:t>Latency (see if accelerator improves latency)</a:t>
            </a:r>
          </a:p>
          <a:p>
            <a:pPr marL="514350" lvl="1" indent="-285750">
              <a:buFont typeface="Courier New" panose="020B0604020202020204" pitchFamily="34" charset="0"/>
              <a:buChar char="o"/>
            </a:pPr>
            <a:r>
              <a:rPr lang="en-US" sz="1800" dirty="0"/>
              <a:t>Bandwidth</a:t>
            </a:r>
          </a:p>
          <a:p>
            <a:pPr marL="514350" lvl="1" indent="-285750">
              <a:buFont typeface="Courier New" panose="020B0604020202020204" pitchFamily="34" charset="0"/>
              <a:buChar char="o"/>
            </a:pPr>
            <a:r>
              <a:rPr lang="en-US" sz="1800" dirty="0"/>
              <a:t>Area used on chip/resources used</a:t>
            </a:r>
          </a:p>
          <a:p>
            <a:pPr marL="742950" lvl="2" indent="-285750">
              <a:buFont typeface="Wingdings" panose="020B0604020202020204" pitchFamily="34" charset="0"/>
              <a:buChar char="§"/>
            </a:pPr>
            <a:endParaRPr lang="en-US" dirty="0"/>
          </a:p>
          <a:p>
            <a:pPr marL="742950" lvl="2" indent="-285750">
              <a:buFont typeface="Wingdings" panose="020B0604020202020204" pitchFamily="34" charset="0"/>
              <a:buChar char="§"/>
            </a:pPr>
            <a:endParaRPr lang="en-US" dirty="0"/>
          </a:p>
          <a:p>
            <a:pPr marL="285750" indent="-285750">
              <a:buFont typeface="Arial" panose="020B0604020202020204" pitchFamily="34" charset="0"/>
              <a:buChar char="•"/>
            </a:pPr>
            <a:r>
              <a:rPr lang="en-US" sz="2000" dirty="0"/>
              <a:t>What kind of test we want</a:t>
            </a:r>
          </a:p>
          <a:p>
            <a:pPr marL="514350" lvl="1" indent="-285750">
              <a:buFont typeface="Courier New" panose="020B0604020202020204" pitchFamily="34" charset="0"/>
              <a:buChar char="o"/>
            </a:pPr>
            <a:r>
              <a:rPr lang="en-US" sz="1800" dirty="0"/>
              <a:t>Algorithm that uses matrix multiplication heavily to compare using the accelerator with not using it</a:t>
            </a:r>
          </a:p>
          <a:p>
            <a:pPr marL="514350" lvl="1" indent="-285750">
              <a:buFont typeface="Courier New" panose="020B0604020202020204" pitchFamily="34" charset="0"/>
              <a:buChar char="o"/>
            </a:pPr>
            <a:r>
              <a:rPr lang="en-US" sz="1800" dirty="0"/>
              <a:t>Alter this algorithm to use the APM to measure bandwidth of the accelerator's output</a:t>
            </a:r>
          </a:p>
          <a:p>
            <a:pPr marL="514350" lvl="1" indent="-285750">
              <a:buFont typeface="Courier New" panose="020B0604020202020204" pitchFamily="34" charset="0"/>
              <a:buChar char="o"/>
            </a:pPr>
            <a:endParaRPr lang="en-US" dirty="0"/>
          </a:p>
          <a:p>
            <a:pPr marL="285750" indent="-285750">
              <a:buFont typeface="Arial" panose="020B0604020202020204" pitchFamily="34" charset="0"/>
              <a:buChar char="•"/>
            </a:pPr>
            <a:endParaRPr lang="en-US" dirty="0"/>
          </a:p>
          <a:p>
            <a:pPr marL="514350" lvl="1" indent="-285750">
              <a:buFont typeface="Courier New" panose="020B0604020202020204" pitchFamily="34" charset="0"/>
              <a:buChar char="o"/>
            </a:pPr>
            <a:endParaRPr lang="en-US" dirty="0"/>
          </a:p>
        </p:txBody>
      </p:sp>
      <p:sp>
        <p:nvSpPr>
          <p:cNvPr id="4" name="Arrow: Left 3">
            <a:extLst>
              <a:ext uri="{FF2B5EF4-FFF2-40B4-BE49-F238E27FC236}">
                <a16:creationId xmlns:a16="http://schemas.microsoft.com/office/drawing/2014/main" id="{CC72EA00-EEA4-CCDB-F17F-B475440C6CB8}"/>
              </a:ext>
            </a:extLst>
          </p:cNvPr>
          <p:cNvSpPr/>
          <p:nvPr/>
        </p:nvSpPr>
        <p:spPr>
          <a:xfrm>
            <a:off x="4559508" y="2802647"/>
            <a:ext cx="3072983" cy="362262"/>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39E22A1-0818-4AF0-8E81-C149F93EAB8D}"/>
              </a:ext>
            </a:extLst>
          </p:cNvPr>
          <p:cNvSpPr txBox="1"/>
          <p:nvPr/>
        </p:nvSpPr>
        <p:spPr>
          <a:xfrm>
            <a:off x="7630889" y="2633527"/>
            <a:ext cx="322288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t>Vivado</a:t>
            </a:r>
            <a:r>
              <a:rPr lang="en-US" sz="2000" dirty="0"/>
              <a:t> Design Suite does this for us!</a:t>
            </a:r>
            <a:endParaRPr lang="en-US" dirty="0"/>
          </a:p>
        </p:txBody>
      </p:sp>
      <p:pic>
        <p:nvPicPr>
          <p:cNvPr id="6" name="Picture 5" descr="QR Code Free Stock Photo - Public Domain Pictures">
            <a:extLst>
              <a:ext uri="{FF2B5EF4-FFF2-40B4-BE49-F238E27FC236}">
                <a16:creationId xmlns:a16="http://schemas.microsoft.com/office/drawing/2014/main" id="{811092DE-25F4-E1CF-D2E5-8B68A92A03B0}"/>
              </a:ext>
            </a:extLst>
          </p:cNvPr>
          <p:cNvPicPr>
            <a:picLocks noChangeAspect="1"/>
          </p:cNvPicPr>
          <p:nvPr/>
        </p:nvPicPr>
        <p:blipFill>
          <a:blip r:embed="rId3"/>
          <a:stretch>
            <a:fillRect/>
          </a:stretch>
        </p:blipFill>
        <p:spPr>
          <a:xfrm>
            <a:off x="8281182" y="3517589"/>
            <a:ext cx="3913943" cy="2655900"/>
          </a:xfrm>
          <a:prstGeom prst="rect">
            <a:avLst/>
          </a:prstGeom>
        </p:spPr>
      </p:pic>
      <p:sp>
        <p:nvSpPr>
          <p:cNvPr id="7" name="Date Placeholder 6">
            <a:extLst>
              <a:ext uri="{FF2B5EF4-FFF2-40B4-BE49-F238E27FC236}">
                <a16:creationId xmlns:a16="http://schemas.microsoft.com/office/drawing/2014/main" id="{165FF9C3-7083-8167-04EC-4E9794288802}"/>
              </a:ext>
            </a:extLst>
          </p:cNvPr>
          <p:cNvSpPr>
            <a:spLocks noGrp="1"/>
          </p:cNvSpPr>
          <p:nvPr>
            <p:ph type="dt" sz="half" idx="10"/>
          </p:nvPr>
        </p:nvSpPr>
        <p:spPr/>
        <p:txBody>
          <a:bodyPr/>
          <a:lstStyle/>
          <a:p>
            <a:fld id="{DF03C2D5-A6A3-40AC-9C9B-525BB4D7D333}" type="datetime1">
              <a:rPr lang="en-US" smtClean="0"/>
              <a:t>5/4/2026</a:t>
            </a:fld>
            <a:endParaRPr lang="en-US"/>
          </a:p>
        </p:txBody>
      </p:sp>
      <p:sp>
        <p:nvSpPr>
          <p:cNvPr id="8" name="Slide Number Placeholder 7">
            <a:extLst>
              <a:ext uri="{FF2B5EF4-FFF2-40B4-BE49-F238E27FC236}">
                <a16:creationId xmlns:a16="http://schemas.microsoft.com/office/drawing/2014/main" id="{169511D4-4F90-0185-BCF6-C94FB5857C7E}"/>
              </a:ext>
            </a:extLst>
          </p:cNvPr>
          <p:cNvSpPr>
            <a:spLocks noGrp="1"/>
          </p:cNvSpPr>
          <p:nvPr>
            <p:ph type="sldNum" sz="quarter" idx="12"/>
          </p:nvPr>
        </p:nvSpPr>
        <p:spPr/>
        <p:txBody>
          <a:bodyPr/>
          <a:lstStyle/>
          <a:p>
            <a:fld id="{AEAA3239-9EA4-4A65-A281-97F994456D9F}" type="slidenum">
              <a:rPr lang="en-US" smtClean="0"/>
              <a:t>12</a:t>
            </a:fld>
            <a:endParaRPr lang="en-US"/>
          </a:p>
        </p:txBody>
      </p:sp>
    </p:spTree>
    <p:extLst>
      <p:ext uri="{BB962C8B-B14F-4D97-AF65-F5344CB8AC3E}">
        <p14:creationId xmlns:p14="http://schemas.microsoft.com/office/powerpoint/2010/main" val="22727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6035A-AF83-9628-205C-261316FC381A}"/>
              </a:ext>
            </a:extLst>
          </p:cNvPr>
          <p:cNvSpPr>
            <a:spLocks noGrp="1"/>
          </p:cNvSpPr>
          <p:nvPr>
            <p:ph type="title"/>
          </p:nvPr>
        </p:nvSpPr>
        <p:spPr/>
        <p:txBody>
          <a:bodyPr/>
          <a:lstStyle/>
          <a:p>
            <a:r>
              <a:rPr lang="en-US"/>
              <a:t>Testing Algorithm</a:t>
            </a:r>
          </a:p>
        </p:txBody>
      </p:sp>
      <p:sp>
        <p:nvSpPr>
          <p:cNvPr id="3" name="Content Placeholder 2">
            <a:extLst>
              <a:ext uri="{FF2B5EF4-FFF2-40B4-BE49-F238E27FC236}">
                <a16:creationId xmlns:a16="http://schemas.microsoft.com/office/drawing/2014/main" id="{187FE3A4-95A0-CFFB-80D9-9ED707DC5B3F}"/>
              </a:ext>
            </a:extLst>
          </p:cNvPr>
          <p:cNvSpPr>
            <a:spLocks noGrp="1"/>
          </p:cNvSpPr>
          <p:nvPr>
            <p:ph idx="1"/>
          </p:nvPr>
        </p:nvSpPr>
        <p:spPr>
          <a:xfrm>
            <a:off x="92883" y="1684421"/>
            <a:ext cx="5991118" cy="4343400"/>
          </a:xfrm>
        </p:spPr>
        <p:txBody>
          <a:bodyPr vert="horz" lIns="91440" tIns="45720" rIns="91440" bIns="45720" rtlCol="0" anchor="t">
            <a:noAutofit/>
          </a:bodyPr>
          <a:lstStyle/>
          <a:p>
            <a:pPr marL="285750" indent="-285750">
              <a:lnSpc>
                <a:spcPct val="150000"/>
              </a:lnSpc>
              <a:buChar char="•"/>
            </a:pPr>
            <a:r>
              <a:rPr lang="en-US" sz="2000" dirty="0"/>
              <a:t>Sudo number identification using matrix multiplication</a:t>
            </a:r>
          </a:p>
          <a:p>
            <a:pPr marL="514350" lvl="1" indent="-285750">
              <a:lnSpc>
                <a:spcPct val="150000"/>
              </a:lnSpc>
              <a:buFont typeface="Courier New" panose="020B0604020202020204" pitchFamily="34" charset="0"/>
              <a:buChar char="o"/>
            </a:pPr>
            <a:r>
              <a:rPr lang="en-US" sz="1800" dirty="0"/>
              <a:t>Similar to how neural networks identify images based on weighted entries</a:t>
            </a:r>
          </a:p>
          <a:p>
            <a:pPr marL="514350" lvl="1" indent="-285750">
              <a:lnSpc>
                <a:spcPct val="150000"/>
              </a:lnSpc>
              <a:buFont typeface="Courier New" panose="020B0604020202020204" pitchFamily="34" charset="0"/>
              <a:buChar char="o"/>
            </a:pPr>
            <a:r>
              <a:rPr lang="en-US" sz="1800" dirty="0"/>
              <a:t>Takes in an input matrix representing a number</a:t>
            </a:r>
          </a:p>
          <a:p>
            <a:pPr marL="514350" lvl="1" indent="-285750">
              <a:lnSpc>
                <a:spcPct val="150000"/>
              </a:lnSpc>
              <a:buFont typeface="Courier New" panose="020B0604020202020204" pitchFamily="34" charset="0"/>
              <a:buChar char="o"/>
            </a:pPr>
            <a:r>
              <a:rPr lang="en-US" sz="1800" dirty="0"/>
              <a:t>Multiplies it across 10 preset matrices being numbers 0-9</a:t>
            </a:r>
          </a:p>
          <a:p>
            <a:pPr marL="514350" lvl="1" indent="-285750">
              <a:lnSpc>
                <a:spcPct val="150000"/>
              </a:lnSpc>
              <a:buFont typeface="Courier New" panose="020B0604020202020204" pitchFamily="34" charset="0"/>
              <a:buChar char="o"/>
            </a:pPr>
            <a:r>
              <a:rPr lang="en-US" sz="1800" dirty="0"/>
              <a:t>Sums the diagonals (trace) of each output matrix to find best match</a:t>
            </a:r>
          </a:p>
          <a:p>
            <a:pPr marL="285750" indent="-285750">
              <a:lnSpc>
                <a:spcPct val="150000"/>
              </a:lnSpc>
              <a:buFont typeface="Arial" panose="020B0604020202020204" pitchFamily="34" charset="0"/>
              <a:buChar char="•"/>
            </a:pPr>
            <a:r>
              <a:rPr lang="en-US" sz="2000" dirty="0"/>
              <a:t>This is matrix multiplication heavy (10 total runs) </a:t>
            </a:r>
          </a:p>
        </p:txBody>
      </p:sp>
      <p:pic>
        <p:nvPicPr>
          <p:cNvPr id="5" name="Picture 4">
            <a:extLst>
              <a:ext uri="{FF2B5EF4-FFF2-40B4-BE49-F238E27FC236}">
                <a16:creationId xmlns:a16="http://schemas.microsoft.com/office/drawing/2014/main" id="{3447E29F-8377-BB1C-0F1B-920AF2E008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2963" y="1597792"/>
            <a:ext cx="5733111" cy="5014763"/>
          </a:xfrm>
          <a:prstGeom prst="rect">
            <a:avLst/>
          </a:prstGeom>
        </p:spPr>
      </p:pic>
      <p:sp>
        <p:nvSpPr>
          <p:cNvPr id="6" name="Date Placeholder 5">
            <a:extLst>
              <a:ext uri="{FF2B5EF4-FFF2-40B4-BE49-F238E27FC236}">
                <a16:creationId xmlns:a16="http://schemas.microsoft.com/office/drawing/2014/main" id="{A6A55D82-4808-0AEB-AFF3-FB9083E32ED8}"/>
              </a:ext>
            </a:extLst>
          </p:cNvPr>
          <p:cNvSpPr>
            <a:spLocks noGrp="1"/>
          </p:cNvSpPr>
          <p:nvPr>
            <p:ph type="dt" sz="half" idx="10"/>
          </p:nvPr>
        </p:nvSpPr>
        <p:spPr/>
        <p:txBody>
          <a:bodyPr/>
          <a:lstStyle/>
          <a:p>
            <a:fld id="{852C927D-1C2A-4660-975A-1675A3C03F42}" type="datetime1">
              <a:rPr lang="en-US" smtClean="0"/>
              <a:t>5/4/2026</a:t>
            </a:fld>
            <a:endParaRPr lang="en-US"/>
          </a:p>
        </p:txBody>
      </p:sp>
      <p:sp>
        <p:nvSpPr>
          <p:cNvPr id="7" name="Slide Number Placeholder 6">
            <a:extLst>
              <a:ext uri="{FF2B5EF4-FFF2-40B4-BE49-F238E27FC236}">
                <a16:creationId xmlns:a16="http://schemas.microsoft.com/office/drawing/2014/main" id="{4FEB8E3C-D6D1-7B5B-3EEE-F408676E2315}"/>
              </a:ext>
            </a:extLst>
          </p:cNvPr>
          <p:cNvSpPr>
            <a:spLocks noGrp="1"/>
          </p:cNvSpPr>
          <p:nvPr>
            <p:ph type="sldNum" sz="quarter" idx="12"/>
          </p:nvPr>
        </p:nvSpPr>
        <p:spPr/>
        <p:txBody>
          <a:bodyPr/>
          <a:lstStyle/>
          <a:p>
            <a:fld id="{AEAA3239-9EA4-4A65-A281-97F994456D9F}" type="slidenum">
              <a:rPr lang="en-US" smtClean="0"/>
              <a:t>13</a:t>
            </a:fld>
            <a:endParaRPr lang="en-US"/>
          </a:p>
        </p:txBody>
      </p:sp>
    </p:spTree>
    <p:extLst>
      <p:ext uri="{BB962C8B-B14F-4D97-AF65-F5344CB8AC3E}">
        <p14:creationId xmlns:p14="http://schemas.microsoft.com/office/powerpoint/2010/main" val="1370716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8CD1E-BE15-C06F-D353-71EA0E35545B}"/>
              </a:ext>
            </a:extLst>
          </p:cNvPr>
          <p:cNvSpPr>
            <a:spLocks noGrp="1"/>
          </p:cNvSpPr>
          <p:nvPr>
            <p:ph type="title"/>
          </p:nvPr>
        </p:nvSpPr>
        <p:spPr>
          <a:xfrm>
            <a:off x="612648" y="338329"/>
            <a:ext cx="10963655" cy="777240"/>
          </a:xfrm>
        </p:spPr>
        <p:txBody>
          <a:bodyPr/>
          <a:lstStyle/>
          <a:p>
            <a:r>
              <a:rPr lang="en-US" dirty="0"/>
              <a:t>Results</a:t>
            </a:r>
          </a:p>
        </p:txBody>
      </p:sp>
      <p:sp>
        <p:nvSpPr>
          <p:cNvPr id="3" name="Content Placeholder 2">
            <a:extLst>
              <a:ext uri="{FF2B5EF4-FFF2-40B4-BE49-F238E27FC236}">
                <a16:creationId xmlns:a16="http://schemas.microsoft.com/office/drawing/2014/main" id="{9E8B0EDE-4E4C-DFB1-EDED-EB9692C56A0C}"/>
              </a:ext>
            </a:extLst>
          </p:cNvPr>
          <p:cNvSpPr>
            <a:spLocks noGrp="1"/>
          </p:cNvSpPr>
          <p:nvPr>
            <p:ph idx="1"/>
          </p:nvPr>
        </p:nvSpPr>
        <p:spPr>
          <a:xfrm>
            <a:off x="374903" y="1280160"/>
            <a:ext cx="6373369" cy="4636008"/>
          </a:xfrm>
        </p:spPr>
        <p:txBody>
          <a:bodyPr vert="horz" lIns="91440" tIns="45720" rIns="91440" bIns="45720" rtlCol="0" anchor="t">
            <a:noAutofit/>
          </a:bodyPr>
          <a:lstStyle/>
          <a:p>
            <a:pPr marL="285750" indent="-285750">
              <a:lnSpc>
                <a:spcPct val="150000"/>
              </a:lnSpc>
              <a:buFont typeface="Arial" panose="020B0604020202020204" pitchFamily="34" charset="0"/>
              <a:buChar char="•"/>
            </a:pPr>
            <a:r>
              <a:rPr lang="en-US" sz="2000" dirty="0"/>
              <a:t>Latency</a:t>
            </a:r>
          </a:p>
          <a:p>
            <a:pPr marL="514350" lvl="1" indent="-285750">
              <a:lnSpc>
                <a:spcPct val="150000"/>
              </a:lnSpc>
              <a:buFont typeface="Arial" panose="020B0604020202020204" pitchFamily="34" charset="0"/>
              <a:buChar char="•"/>
            </a:pPr>
            <a:r>
              <a:rPr lang="en-US" sz="1800" dirty="0"/>
              <a:t>Using accelerator: </a:t>
            </a:r>
            <a:r>
              <a:rPr lang="en-US" sz="1800" b="1" dirty="0"/>
              <a:t>41 </a:t>
            </a:r>
            <a:r>
              <a:rPr lang="en-US" sz="1800" b="1" dirty="0" err="1"/>
              <a:t>ms</a:t>
            </a:r>
            <a:endParaRPr lang="en-US" sz="1800" b="1" dirty="0"/>
          </a:p>
          <a:p>
            <a:pPr marL="514350" lvl="1" indent="-285750">
              <a:lnSpc>
                <a:spcPct val="150000"/>
              </a:lnSpc>
              <a:buFont typeface="Arial" panose="020B0604020202020204" pitchFamily="34" charset="0"/>
              <a:buChar char="•"/>
            </a:pPr>
            <a:r>
              <a:rPr lang="en-US" sz="1800" dirty="0"/>
              <a:t>Not using accelerator: </a:t>
            </a:r>
            <a:r>
              <a:rPr lang="en-US" sz="1800" b="1" dirty="0"/>
              <a:t>122 </a:t>
            </a:r>
            <a:r>
              <a:rPr lang="en-US" sz="1800" b="1" dirty="0" err="1"/>
              <a:t>ms</a:t>
            </a:r>
            <a:endParaRPr lang="en-US" sz="1800" b="1" dirty="0"/>
          </a:p>
          <a:p>
            <a:pPr marL="514350" lvl="1" indent="-285750">
              <a:lnSpc>
                <a:spcPct val="150000"/>
              </a:lnSpc>
              <a:buFont typeface="Arial" panose="020B0604020202020204" pitchFamily="34" charset="0"/>
              <a:buChar char="•"/>
            </a:pPr>
            <a:r>
              <a:rPr lang="en-US" sz="1800" b="1" dirty="0"/>
              <a:t>~3x improvement</a:t>
            </a:r>
          </a:p>
          <a:p>
            <a:pPr marL="285750" indent="-285750">
              <a:lnSpc>
                <a:spcPct val="150000"/>
              </a:lnSpc>
              <a:buFont typeface="Arial" panose="020B0604020202020204" pitchFamily="34" charset="0"/>
              <a:buChar char="•"/>
            </a:pPr>
            <a:r>
              <a:rPr lang="en-US" sz="2000" dirty="0"/>
              <a:t>Bandwidth</a:t>
            </a:r>
          </a:p>
          <a:p>
            <a:pPr marL="514350" lvl="1" indent="-285750">
              <a:lnSpc>
                <a:spcPct val="150000"/>
              </a:lnSpc>
              <a:buFont typeface="Arial" panose="020B0604020202020204" pitchFamily="34" charset="0"/>
              <a:buChar char="•"/>
            </a:pPr>
            <a:r>
              <a:rPr lang="en-US" sz="1800" b="1" dirty="0"/>
              <a:t>61 kB/s</a:t>
            </a:r>
          </a:p>
          <a:p>
            <a:pPr marL="285750" indent="-285750">
              <a:lnSpc>
                <a:spcPct val="150000"/>
              </a:lnSpc>
              <a:buFont typeface="Arial,Sans-Serif" panose="020B0604020202020204" pitchFamily="34" charset="0"/>
              <a:buChar char="•"/>
            </a:pPr>
            <a:r>
              <a:rPr lang="en-US" sz="2000" dirty="0"/>
              <a:t>Max Frequency</a:t>
            </a:r>
          </a:p>
          <a:p>
            <a:pPr marL="514350" lvl="1" indent="-285750">
              <a:lnSpc>
                <a:spcPct val="150000"/>
              </a:lnSpc>
              <a:buFont typeface="Arial,Sans-Serif" panose="020B0604020202020204" pitchFamily="34" charset="0"/>
              <a:buChar char="•"/>
            </a:pPr>
            <a:r>
              <a:rPr lang="en-US" sz="1800" b="1" dirty="0"/>
              <a:t>117MHz </a:t>
            </a:r>
            <a:r>
              <a:rPr lang="en-US" sz="1800" dirty="0"/>
              <a:t>fast for FPGA softcore</a:t>
            </a:r>
          </a:p>
          <a:p>
            <a:pPr marL="285750" indent="-285750">
              <a:lnSpc>
                <a:spcPct val="150000"/>
              </a:lnSpc>
              <a:buFont typeface="Arial" panose="020B0604020202020204" pitchFamily="34" charset="0"/>
              <a:buChar char="•"/>
            </a:pPr>
            <a:endParaRPr lang="en-US" sz="1800" b="1" dirty="0"/>
          </a:p>
        </p:txBody>
      </p:sp>
      <p:sp>
        <p:nvSpPr>
          <p:cNvPr id="7" name="Date Placeholder 6">
            <a:extLst>
              <a:ext uri="{FF2B5EF4-FFF2-40B4-BE49-F238E27FC236}">
                <a16:creationId xmlns:a16="http://schemas.microsoft.com/office/drawing/2014/main" id="{4357A4B0-6C4D-A8FF-5964-9C01EA847804}"/>
              </a:ext>
            </a:extLst>
          </p:cNvPr>
          <p:cNvSpPr>
            <a:spLocks noGrp="1"/>
          </p:cNvSpPr>
          <p:nvPr>
            <p:ph type="dt" sz="half" idx="10"/>
          </p:nvPr>
        </p:nvSpPr>
        <p:spPr/>
        <p:txBody>
          <a:bodyPr/>
          <a:lstStyle/>
          <a:p>
            <a:fld id="{B8D2358C-7482-45E0-A292-99F988F43390}" type="datetime1">
              <a:rPr lang="en-US" smtClean="0"/>
              <a:t>5/4/2026</a:t>
            </a:fld>
            <a:endParaRPr lang="en-US"/>
          </a:p>
        </p:txBody>
      </p:sp>
      <p:sp>
        <p:nvSpPr>
          <p:cNvPr id="8" name="Slide Number Placeholder 7">
            <a:extLst>
              <a:ext uri="{FF2B5EF4-FFF2-40B4-BE49-F238E27FC236}">
                <a16:creationId xmlns:a16="http://schemas.microsoft.com/office/drawing/2014/main" id="{F59E1E25-EC81-17CF-A62D-40392B1AB909}"/>
              </a:ext>
            </a:extLst>
          </p:cNvPr>
          <p:cNvSpPr>
            <a:spLocks noGrp="1"/>
          </p:cNvSpPr>
          <p:nvPr>
            <p:ph type="sldNum" sz="quarter" idx="12"/>
          </p:nvPr>
        </p:nvSpPr>
        <p:spPr/>
        <p:txBody>
          <a:bodyPr/>
          <a:lstStyle/>
          <a:p>
            <a:fld id="{AEAA3239-9EA4-4A65-A281-97F994456D9F}" type="slidenum">
              <a:rPr lang="en-US" smtClean="0"/>
              <a:t>14</a:t>
            </a:fld>
            <a:endParaRPr lang="en-US"/>
          </a:p>
        </p:txBody>
      </p:sp>
      <p:pic>
        <p:nvPicPr>
          <p:cNvPr id="10" name="Picture 9">
            <a:extLst>
              <a:ext uri="{FF2B5EF4-FFF2-40B4-BE49-F238E27FC236}">
                <a16:creationId xmlns:a16="http://schemas.microsoft.com/office/drawing/2014/main" id="{C477CA63-24E7-833F-15F2-07B08F5D6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2385" y="483356"/>
            <a:ext cx="3218551" cy="5918264"/>
          </a:xfrm>
          <a:prstGeom prst="rect">
            <a:avLst/>
          </a:prstGeom>
        </p:spPr>
      </p:pic>
      <p:sp>
        <p:nvSpPr>
          <p:cNvPr id="11" name="Rectangle 10">
            <a:extLst>
              <a:ext uri="{FF2B5EF4-FFF2-40B4-BE49-F238E27FC236}">
                <a16:creationId xmlns:a16="http://schemas.microsoft.com/office/drawing/2014/main" id="{EDA5F1B1-76BE-943D-C986-41DC6F55A0CE}"/>
              </a:ext>
            </a:extLst>
          </p:cNvPr>
          <p:cNvSpPr/>
          <p:nvPr/>
        </p:nvSpPr>
        <p:spPr>
          <a:xfrm>
            <a:off x="8833104" y="3529584"/>
            <a:ext cx="3127248" cy="32004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F810F27-5E36-3396-BF09-4EB4B67DCE67}"/>
              </a:ext>
            </a:extLst>
          </p:cNvPr>
          <p:cNvSpPr/>
          <p:nvPr/>
        </p:nvSpPr>
        <p:spPr>
          <a:xfrm>
            <a:off x="8820912" y="3992880"/>
            <a:ext cx="3127248" cy="14935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AE4AA33-AFDB-2C18-D831-112A6698D8D7}"/>
              </a:ext>
            </a:extLst>
          </p:cNvPr>
          <p:cNvSpPr/>
          <p:nvPr/>
        </p:nvSpPr>
        <p:spPr>
          <a:xfrm>
            <a:off x="8845296" y="4693920"/>
            <a:ext cx="3127248" cy="14935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FC0B72-05B9-D5E0-8213-6F108066000D}"/>
              </a:ext>
            </a:extLst>
          </p:cNvPr>
          <p:cNvSpPr/>
          <p:nvPr/>
        </p:nvSpPr>
        <p:spPr>
          <a:xfrm>
            <a:off x="8863584" y="5983224"/>
            <a:ext cx="3127248" cy="14935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7C5D07F-1F72-BEC8-705C-93C720F6C416}"/>
              </a:ext>
            </a:extLst>
          </p:cNvPr>
          <p:cNvSpPr/>
          <p:nvPr/>
        </p:nvSpPr>
        <p:spPr>
          <a:xfrm>
            <a:off x="8857488" y="5510784"/>
            <a:ext cx="3127248" cy="32004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ED7FE5A-0522-4367-CFB0-2E391E9B4E4E}"/>
              </a:ext>
            </a:extLst>
          </p:cNvPr>
          <p:cNvSpPr/>
          <p:nvPr/>
        </p:nvSpPr>
        <p:spPr>
          <a:xfrm>
            <a:off x="9262872" y="2286000"/>
            <a:ext cx="1243584" cy="16459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8A1D0B3-D9D9-BCF7-CD29-DEF1FB615D43}"/>
              </a:ext>
            </a:extLst>
          </p:cNvPr>
          <p:cNvSpPr/>
          <p:nvPr/>
        </p:nvSpPr>
        <p:spPr>
          <a:xfrm>
            <a:off x="10347960" y="2456688"/>
            <a:ext cx="176784" cy="83515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CD53A9-80F4-CC6B-5B30-860CC935BA53}"/>
              </a:ext>
            </a:extLst>
          </p:cNvPr>
          <p:cNvSpPr/>
          <p:nvPr/>
        </p:nvSpPr>
        <p:spPr>
          <a:xfrm>
            <a:off x="9278112" y="2712720"/>
            <a:ext cx="1243584" cy="16459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FEE37DA-5527-0922-CEBF-2FED882382CC}"/>
              </a:ext>
            </a:extLst>
          </p:cNvPr>
          <p:cNvSpPr/>
          <p:nvPr/>
        </p:nvSpPr>
        <p:spPr>
          <a:xfrm>
            <a:off x="9278112" y="3124200"/>
            <a:ext cx="1243584" cy="16459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FB04913-B634-057D-8A47-6D22ED1BADB9}"/>
              </a:ext>
            </a:extLst>
          </p:cNvPr>
          <p:cNvSpPr/>
          <p:nvPr/>
        </p:nvSpPr>
        <p:spPr>
          <a:xfrm>
            <a:off x="9790176" y="2593848"/>
            <a:ext cx="743712" cy="12192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2E483A7-2E45-143F-2538-F1D231B158CE}"/>
              </a:ext>
            </a:extLst>
          </p:cNvPr>
          <p:cNvSpPr txBox="1"/>
          <p:nvPr/>
        </p:nvSpPr>
        <p:spPr>
          <a:xfrm>
            <a:off x="4486311" y="1363493"/>
            <a:ext cx="4113627" cy="323165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sz="2000" dirty="0"/>
              <a:t>Resources Used</a:t>
            </a:r>
          </a:p>
          <a:p>
            <a:pPr marL="514350" lvl="1" indent="-285750">
              <a:lnSpc>
                <a:spcPct val="150000"/>
              </a:lnSpc>
              <a:buFont typeface="Arial" panose="020B0604020202020204" pitchFamily="34" charset="0"/>
              <a:buChar char="•"/>
            </a:pPr>
            <a:r>
              <a:rPr lang="en-US" b="1" dirty="0"/>
              <a:t>35,000 Slice LUTs </a:t>
            </a:r>
            <a:r>
              <a:rPr lang="en-US" dirty="0"/>
              <a:t>(lookup tables)</a:t>
            </a:r>
          </a:p>
          <a:p>
            <a:pPr marL="742950" lvl="2" indent="-285750">
              <a:lnSpc>
                <a:spcPct val="150000"/>
              </a:lnSpc>
              <a:buFont typeface="Arial" panose="020B0604020202020204" pitchFamily="34" charset="0"/>
              <a:buChar char="•"/>
            </a:pPr>
            <a:r>
              <a:rPr lang="en-US" sz="1600" b="1" dirty="0"/>
              <a:t>1/2 of total LUTs</a:t>
            </a:r>
            <a:r>
              <a:rPr lang="en-US" sz="1600" dirty="0"/>
              <a:t> on board</a:t>
            </a:r>
          </a:p>
          <a:p>
            <a:pPr marL="514350" lvl="1" indent="-285750">
              <a:lnSpc>
                <a:spcPct val="150000"/>
              </a:lnSpc>
              <a:buFont typeface="Arial" panose="020B0604020202020204" pitchFamily="34" charset="0"/>
              <a:buChar char="•"/>
            </a:pPr>
            <a:r>
              <a:rPr lang="en-US" b="1" dirty="0"/>
              <a:t>30,000 Slice Registers</a:t>
            </a:r>
          </a:p>
          <a:p>
            <a:pPr marL="742950" lvl="2" indent="-285750">
              <a:lnSpc>
                <a:spcPct val="150000"/>
              </a:lnSpc>
              <a:buFont typeface="Arial" panose="020B0604020202020204" pitchFamily="34" charset="0"/>
              <a:buChar char="•"/>
            </a:pPr>
            <a:r>
              <a:rPr lang="en-US" b="1" dirty="0"/>
              <a:t>1/4 of total registers </a:t>
            </a:r>
            <a:r>
              <a:rPr lang="en-US" dirty="0"/>
              <a:t>on board</a:t>
            </a:r>
          </a:p>
          <a:p>
            <a:pPr marL="514350" lvl="1" indent="-285750">
              <a:lnSpc>
                <a:spcPct val="150000"/>
              </a:lnSpc>
              <a:buFont typeface="Arial" panose="020B0604020202020204" pitchFamily="34" charset="0"/>
              <a:buChar char="•"/>
            </a:pPr>
            <a:r>
              <a:rPr lang="en-US" b="1" dirty="0"/>
              <a:t>13.5 Block RAM Tile</a:t>
            </a:r>
          </a:p>
          <a:p>
            <a:pPr marL="742950" lvl="2" indent="-285750">
              <a:lnSpc>
                <a:spcPct val="150000"/>
              </a:lnSpc>
              <a:buFont typeface="Arial" panose="020B0604020202020204" pitchFamily="34" charset="0"/>
              <a:buChar char="•"/>
            </a:pPr>
            <a:r>
              <a:rPr lang="en-US" sz="1600" b="1" dirty="0"/>
              <a:t>1/10 of total block RAM </a:t>
            </a:r>
            <a:r>
              <a:rPr lang="en-US" sz="1600" dirty="0"/>
              <a:t>on board</a:t>
            </a:r>
          </a:p>
          <a:p>
            <a:endParaRPr lang="en-US" dirty="0"/>
          </a:p>
        </p:txBody>
      </p:sp>
    </p:spTree>
    <p:extLst>
      <p:ext uri="{BB962C8B-B14F-4D97-AF65-F5344CB8AC3E}">
        <p14:creationId xmlns:p14="http://schemas.microsoft.com/office/powerpoint/2010/main" val="4162110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134B4-D201-7237-581E-6938574F46C4}"/>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1F8D3A4F-EED9-BCDE-5A30-94BF741AE860}"/>
              </a:ext>
            </a:extLst>
          </p:cNvPr>
          <p:cNvSpPr>
            <a:spLocks noGrp="1"/>
          </p:cNvSpPr>
          <p:nvPr>
            <p:ph idx="1"/>
          </p:nvPr>
        </p:nvSpPr>
        <p:spPr>
          <a:xfrm>
            <a:off x="612647" y="1536192"/>
            <a:ext cx="6080761" cy="4636008"/>
          </a:xfrm>
        </p:spPr>
        <p:txBody>
          <a:bodyPr/>
          <a:lstStyle/>
          <a:p>
            <a:r>
              <a:rPr lang="en-US" sz="2000" dirty="0"/>
              <a:t>Goal</a:t>
            </a:r>
          </a:p>
          <a:p>
            <a:pPr marL="285750" indent="-285750">
              <a:buFont typeface="Arial" panose="020B0604020202020204" pitchFamily="34" charset="0"/>
              <a:buChar char="•"/>
            </a:pPr>
            <a:r>
              <a:rPr lang="en-US" sz="1800" dirty="0"/>
              <a:t>Configurable multi-core and SoC analysis platform.</a:t>
            </a:r>
            <a:endParaRPr lang="en-US" sz="1600" dirty="0"/>
          </a:p>
          <a:p>
            <a:pPr marL="514350" lvl="1" indent="-285750">
              <a:buFont typeface="Arial" panose="020B0604020202020204" pitchFamily="34" charset="0"/>
              <a:buChar char="•"/>
            </a:pPr>
            <a:r>
              <a:rPr lang="en-US" sz="1600" dirty="0"/>
              <a:t>With measurement tools</a:t>
            </a:r>
          </a:p>
          <a:p>
            <a:pPr marL="514350" lvl="1" indent="-285750">
              <a:buFont typeface="Arial" panose="020B0604020202020204" pitchFamily="34" charset="0"/>
              <a:buChar char="•"/>
            </a:pPr>
            <a:endParaRPr lang="en-US" sz="1600" dirty="0"/>
          </a:p>
          <a:p>
            <a:r>
              <a:rPr lang="en-US" sz="2000" dirty="0"/>
              <a:t>What We Achieved</a:t>
            </a:r>
          </a:p>
          <a:p>
            <a:pPr marL="285750" indent="-285750">
              <a:buFont typeface="Arial" panose="020B0604020202020204" pitchFamily="34" charset="0"/>
              <a:buChar char="•"/>
            </a:pPr>
            <a:r>
              <a:rPr lang="en-US" sz="1800" dirty="0"/>
              <a:t>FPGA-based prototyping platform used for analysis</a:t>
            </a:r>
          </a:p>
          <a:p>
            <a:pPr marL="514350" lvl="1" indent="-285750">
              <a:buFont typeface="Arial" panose="020B0604020202020204" pitchFamily="34" charset="0"/>
              <a:buChar char="•"/>
            </a:pPr>
            <a:r>
              <a:rPr lang="en-US" sz="1600" dirty="0"/>
              <a:t>Custom accelerator system</a:t>
            </a:r>
          </a:p>
          <a:p>
            <a:pPr marL="514350" lvl="1" indent="-285750">
              <a:buFont typeface="Arial" panose="020B0604020202020204" pitchFamily="34" charset="0"/>
              <a:buChar char="•"/>
            </a:pPr>
            <a:r>
              <a:rPr lang="en-US" sz="1600" dirty="0"/>
              <a:t>Open-source GitHub for others to use our design and make their own</a:t>
            </a:r>
          </a:p>
          <a:p>
            <a:pPr marL="514350" lvl="1" indent="-285750">
              <a:buFont typeface="Arial" panose="020B0604020202020204" pitchFamily="34" charset="0"/>
              <a:buChar char="•"/>
            </a:pPr>
            <a:r>
              <a:rPr lang="en-US" sz="1600" dirty="0"/>
              <a:t>Metrics available</a:t>
            </a:r>
          </a:p>
          <a:p>
            <a:pPr marL="742950" lvl="2" indent="-285750">
              <a:buFont typeface="Arial" panose="020B0604020202020204" pitchFamily="34" charset="0"/>
              <a:buChar char="•"/>
            </a:pPr>
            <a:r>
              <a:rPr lang="en-US" dirty="0"/>
              <a:t>Latency</a:t>
            </a:r>
          </a:p>
          <a:p>
            <a:pPr marL="742950" lvl="2" indent="-285750">
              <a:buFont typeface="Arial" panose="020B0604020202020204" pitchFamily="34" charset="0"/>
              <a:buChar char="•"/>
            </a:pPr>
            <a:r>
              <a:rPr lang="en-US" dirty="0"/>
              <a:t>Bandwidth</a:t>
            </a:r>
          </a:p>
          <a:p>
            <a:pPr marL="742950" lvl="2" indent="-285750">
              <a:buFont typeface="Arial" panose="020B0604020202020204" pitchFamily="34" charset="0"/>
              <a:buChar char="•"/>
            </a:pPr>
            <a:r>
              <a:rPr lang="en-US" dirty="0"/>
              <a:t>Resources Used</a:t>
            </a:r>
          </a:p>
          <a:p>
            <a:pPr marL="285750" indent="-285750">
              <a:buFont typeface="Arial" panose="020B0604020202020204" pitchFamily="34" charset="0"/>
              <a:buChar char="•"/>
            </a:pPr>
            <a:endParaRPr lang="en-US" dirty="0"/>
          </a:p>
        </p:txBody>
      </p:sp>
      <p:pic>
        <p:nvPicPr>
          <p:cNvPr id="7" name="Content Placeholder 3" descr="A diagram of a computer network&#10;&#10;AI-generated content may be incorrect.">
            <a:extLst>
              <a:ext uri="{FF2B5EF4-FFF2-40B4-BE49-F238E27FC236}">
                <a16:creationId xmlns:a16="http://schemas.microsoft.com/office/drawing/2014/main" id="{AEEF3CE7-2D81-9E81-0322-EDE08A1CEECE}"/>
              </a:ext>
            </a:extLst>
          </p:cNvPr>
          <p:cNvPicPr>
            <a:picLocks noChangeAspect="1"/>
          </p:cNvPicPr>
          <p:nvPr/>
        </p:nvPicPr>
        <p:blipFill>
          <a:blip r:embed="rId2"/>
          <a:stretch/>
        </p:blipFill>
        <p:spPr>
          <a:xfrm>
            <a:off x="6773296" y="3367934"/>
            <a:ext cx="5091765" cy="3335105"/>
          </a:xfrm>
          <a:prstGeom prst="rect">
            <a:avLst/>
          </a:prstGeom>
          <a:noFill/>
        </p:spPr>
      </p:pic>
      <p:sp>
        <p:nvSpPr>
          <p:cNvPr id="8" name="Date Placeholder 7">
            <a:extLst>
              <a:ext uri="{FF2B5EF4-FFF2-40B4-BE49-F238E27FC236}">
                <a16:creationId xmlns:a16="http://schemas.microsoft.com/office/drawing/2014/main" id="{904CD756-B722-6CF1-7D23-0D7DF36E2431}"/>
              </a:ext>
            </a:extLst>
          </p:cNvPr>
          <p:cNvSpPr>
            <a:spLocks noGrp="1"/>
          </p:cNvSpPr>
          <p:nvPr>
            <p:ph type="dt" sz="half" idx="10"/>
          </p:nvPr>
        </p:nvSpPr>
        <p:spPr/>
        <p:txBody>
          <a:bodyPr/>
          <a:lstStyle/>
          <a:p>
            <a:fld id="{9ABEF33B-DF40-4BAB-BBA1-DFFC64AEA109}" type="datetime1">
              <a:rPr lang="en-US" smtClean="0"/>
              <a:t>5/4/2026</a:t>
            </a:fld>
            <a:endParaRPr lang="en-US"/>
          </a:p>
        </p:txBody>
      </p:sp>
      <p:sp>
        <p:nvSpPr>
          <p:cNvPr id="9" name="Slide Number Placeholder 8">
            <a:extLst>
              <a:ext uri="{FF2B5EF4-FFF2-40B4-BE49-F238E27FC236}">
                <a16:creationId xmlns:a16="http://schemas.microsoft.com/office/drawing/2014/main" id="{80C1B9DD-65E7-92F1-F6E6-08680C111FAF}"/>
              </a:ext>
            </a:extLst>
          </p:cNvPr>
          <p:cNvSpPr>
            <a:spLocks noGrp="1"/>
          </p:cNvSpPr>
          <p:nvPr>
            <p:ph type="sldNum" sz="quarter" idx="12"/>
          </p:nvPr>
        </p:nvSpPr>
        <p:spPr/>
        <p:txBody>
          <a:bodyPr/>
          <a:lstStyle/>
          <a:p>
            <a:fld id="{AEAA3239-9EA4-4A65-A281-97F994456D9F}" type="slidenum">
              <a:rPr lang="en-US" smtClean="0"/>
              <a:t>15</a:t>
            </a:fld>
            <a:endParaRPr lang="en-US"/>
          </a:p>
        </p:txBody>
      </p:sp>
      <p:sp>
        <p:nvSpPr>
          <p:cNvPr id="11" name="TextBox 10">
            <a:extLst>
              <a:ext uri="{FF2B5EF4-FFF2-40B4-BE49-F238E27FC236}">
                <a16:creationId xmlns:a16="http://schemas.microsoft.com/office/drawing/2014/main" id="{C39F675A-4A30-AA4E-C572-4DB2DB9828BF}"/>
              </a:ext>
            </a:extLst>
          </p:cNvPr>
          <p:cNvSpPr txBox="1"/>
          <p:nvPr/>
        </p:nvSpPr>
        <p:spPr>
          <a:xfrm>
            <a:off x="7031736" y="1618488"/>
            <a:ext cx="4151376" cy="1697965"/>
          </a:xfrm>
          <a:prstGeom prst="rect">
            <a:avLst/>
          </a:prstGeom>
          <a:noFill/>
        </p:spPr>
        <p:txBody>
          <a:bodyPr wrap="square" rtlCol="0">
            <a:spAutoFit/>
          </a:bodyPr>
          <a:lstStyle/>
          <a:p>
            <a:pPr>
              <a:lnSpc>
                <a:spcPct val="150000"/>
              </a:lnSpc>
            </a:pPr>
            <a:r>
              <a:rPr lang="en-US" sz="2000" dirty="0"/>
              <a:t>Future Improvements:</a:t>
            </a:r>
          </a:p>
          <a:p>
            <a:pPr marL="285750" indent="-285750">
              <a:lnSpc>
                <a:spcPct val="150000"/>
              </a:lnSpc>
              <a:buFont typeface="Arial" panose="020B0604020202020204" pitchFamily="34" charset="0"/>
              <a:buChar char="•"/>
            </a:pPr>
            <a:r>
              <a:rPr lang="en-US" dirty="0"/>
              <a:t>Add more accelerators</a:t>
            </a:r>
          </a:p>
          <a:p>
            <a:pPr marL="742950" lvl="1" indent="-285750">
              <a:lnSpc>
                <a:spcPct val="150000"/>
              </a:lnSpc>
              <a:buFont typeface="Arial" panose="020B0604020202020204" pitchFamily="34" charset="0"/>
              <a:buChar char="•"/>
            </a:pPr>
            <a:r>
              <a:rPr lang="en-US" sz="1600" dirty="0"/>
              <a:t>Improve parallelism</a:t>
            </a:r>
          </a:p>
          <a:p>
            <a:pPr marL="285750" indent="-285750">
              <a:lnSpc>
                <a:spcPct val="150000"/>
              </a:lnSpc>
              <a:buFont typeface="Arial" panose="020B0604020202020204" pitchFamily="34" charset="0"/>
              <a:buChar char="•"/>
            </a:pPr>
            <a:r>
              <a:rPr lang="en-US" dirty="0"/>
              <a:t>Pipeline the accelerator</a:t>
            </a:r>
          </a:p>
        </p:txBody>
      </p:sp>
    </p:spTree>
    <p:extLst>
      <p:ext uri="{BB962C8B-B14F-4D97-AF65-F5344CB8AC3E}">
        <p14:creationId xmlns:p14="http://schemas.microsoft.com/office/powerpoint/2010/main" val="304438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D4C68-EF00-E88A-5B16-DD5622A3278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296BF98-3B08-383F-D574-16B279977EA8}"/>
              </a:ext>
            </a:extLst>
          </p:cNvPr>
          <p:cNvSpPr>
            <a:spLocks noGrp="1"/>
          </p:cNvSpPr>
          <p:nvPr>
            <p:ph idx="1"/>
          </p:nvPr>
        </p:nvSpPr>
        <p:spPr>
          <a:xfrm>
            <a:off x="612647" y="1472184"/>
            <a:ext cx="10963656" cy="5257800"/>
          </a:xfrm>
        </p:spPr>
        <p:txBody>
          <a:bodyPr/>
          <a:lstStyle/>
          <a:p>
            <a:r>
              <a:rPr lang="en-US" sz="1200" dirty="0"/>
              <a:t>[1] “Moore’s law: The number of transistors per microprocessor,” </a:t>
            </a:r>
            <a:r>
              <a:rPr lang="en-US" sz="1200" i="1" dirty="0"/>
              <a:t>Our World in Data</a:t>
            </a:r>
            <a:r>
              <a:rPr lang="en-US" sz="1200" dirty="0"/>
              <a:t>. [Online]. Available: </a:t>
            </a:r>
            <a:r>
              <a:rPr lang="en-US" sz="1200" dirty="0">
                <a:hlinkClick r:id="rId3"/>
              </a:rPr>
              <a:t>https://ourworldindata.org/grapher/transistors-per-microprocessor</a:t>
            </a:r>
            <a:r>
              <a:rPr lang="en-US" sz="1200" dirty="0"/>
              <a:t>. [Accessed: Sep. 30, 2025].</a:t>
            </a:r>
          </a:p>
          <a:p>
            <a:r>
              <a:rPr lang="en-US" sz="1200" dirty="0"/>
              <a:t>[2] V. Sekar, “How Dennard scaling allowed transistors to shrink,” </a:t>
            </a:r>
            <a:r>
              <a:rPr lang="en-US" sz="1200" i="1" dirty="0"/>
              <a:t>Vik’s Newsletter</a:t>
            </a:r>
            <a:r>
              <a:rPr lang="en-US" sz="1200" dirty="0"/>
              <a:t>, Jan. 12, 2025. [Online]. Available: </a:t>
            </a:r>
            <a:r>
              <a:rPr lang="en-US" sz="1200" dirty="0">
                <a:hlinkClick r:id="rId4"/>
              </a:rPr>
              <a:t>https://www.viksnewsletter.com/p/how-dennard-scaling-actually-works</a:t>
            </a:r>
            <a:r>
              <a:rPr lang="en-US" sz="1200" dirty="0"/>
              <a:t>. [Accessed: Sep. 30, 2025].</a:t>
            </a:r>
          </a:p>
          <a:p>
            <a:r>
              <a:rPr lang="en-US" sz="1200" dirty="0"/>
              <a:t>[3] AMD, </a:t>
            </a:r>
            <a:r>
              <a:rPr lang="en-US" sz="1200" i="1" dirty="0" err="1"/>
              <a:t>MicroBlaze</a:t>
            </a:r>
            <a:r>
              <a:rPr lang="en-US" sz="1200" i="1" dirty="0"/>
              <a:t> V Processor Reference Guide</a:t>
            </a:r>
            <a:r>
              <a:rPr lang="en-US" sz="1200" dirty="0"/>
              <a:t>, UG1629. [Online]. Available: </a:t>
            </a:r>
            <a:r>
              <a:rPr lang="en-US" sz="1200" dirty="0">
                <a:hlinkClick r:id="rId5"/>
              </a:rPr>
              <a:t>https://docs.amd.com/r/en-US/ug1629-microblaze-v-user-guide/Introduction</a:t>
            </a:r>
            <a:r>
              <a:rPr lang="en-US" sz="1200" dirty="0"/>
              <a:t>. [Accessed: Nov. 30, 2025].</a:t>
            </a:r>
          </a:p>
          <a:p>
            <a:r>
              <a:rPr lang="en-US" sz="1200" dirty="0"/>
              <a:t>[4] AMD, “</a:t>
            </a:r>
            <a:r>
              <a:rPr lang="en-US" sz="1200" dirty="0" err="1"/>
              <a:t>MicroBlaze</a:t>
            </a:r>
            <a:r>
              <a:rPr lang="en-US" sz="1200" dirty="0"/>
              <a:t> V RISC-V processor overview,” Aug. 7, 2025. [Online]. Available: </a:t>
            </a:r>
            <a:r>
              <a:rPr lang="en-US" sz="1200" dirty="0">
                <a:hlinkClick r:id="rId6"/>
              </a:rPr>
              <a:t>https://www.amd.com/en/products/software/adaptive-socs-and-fpgas/microblaze-v.html</a:t>
            </a:r>
            <a:r>
              <a:rPr lang="en-US" sz="1200" dirty="0"/>
              <a:t>. [Accessed: Nov. 30, 2025].</a:t>
            </a:r>
          </a:p>
          <a:p>
            <a:r>
              <a:rPr lang="en-US" sz="1200" dirty="0"/>
              <a:t>[5] Arm Ltd., “Multi-core processors,” </a:t>
            </a:r>
            <a:r>
              <a:rPr lang="en-US" sz="1200" i="1" dirty="0"/>
              <a:t>Arm Developer Documentation</a:t>
            </a:r>
            <a:r>
              <a:rPr lang="en-US" sz="1200" dirty="0"/>
              <a:t>, 2025. [Online]. Available: </a:t>
            </a:r>
            <a:r>
              <a:rPr lang="en-US" sz="1200" dirty="0">
                <a:hlinkClick r:id="rId7"/>
              </a:rPr>
              <a:t>https://developer.arm.com/documentation/den0013/0400/Multi-core-processors</a:t>
            </a:r>
            <a:r>
              <a:rPr lang="en-US" sz="1200" dirty="0"/>
              <a:t>. [Accessed: Nov. 30, 2025].</a:t>
            </a:r>
          </a:p>
          <a:p>
            <a:r>
              <a:rPr lang="en-US" sz="1200" dirty="0"/>
              <a:t>[6] RISC-V International, “Ratified RISC-V specifications.” [Online]. Available: </a:t>
            </a:r>
            <a:r>
              <a:rPr lang="en-US" sz="1200" dirty="0">
                <a:hlinkClick r:id="rId8"/>
              </a:rPr>
              <a:t>https://riscv.org/specifications/ratified/</a:t>
            </a:r>
            <a:r>
              <a:rPr lang="en-US" sz="1200" dirty="0"/>
              <a:t>. [Accessed: Nov. 30, 2025].</a:t>
            </a:r>
          </a:p>
          <a:p>
            <a:r>
              <a:rPr lang="en-US" sz="1200" dirty="0"/>
              <a:t>[7] D. S. Roy, “Systolic matrix multiplier,” </a:t>
            </a:r>
            <a:r>
              <a:rPr lang="en-US" sz="1200" i="1" dirty="0"/>
              <a:t>Digital System Design</a:t>
            </a:r>
            <a:r>
              <a:rPr lang="en-US" sz="1200" dirty="0"/>
              <a:t>, Jun. 12, 2020. [Online]. Available: </a:t>
            </a:r>
            <a:r>
              <a:rPr lang="en-US" sz="1200" dirty="0">
                <a:hlinkClick r:id="rId9"/>
              </a:rPr>
              <a:t>https://digitalsystemdesign.in/systolic-matrix-multiplier/</a:t>
            </a:r>
            <a:r>
              <a:rPr lang="en-US" sz="1200" dirty="0"/>
              <a:t>. [Accessed: Dec. 18, 2025].</a:t>
            </a:r>
          </a:p>
          <a:p>
            <a:r>
              <a:rPr lang="en-US" sz="1200" dirty="0"/>
              <a:t>[8] IEEE Standards Association, </a:t>
            </a:r>
            <a:r>
              <a:rPr lang="en-US" sz="1200" i="1" dirty="0"/>
              <a:t>IEEE Standard for </a:t>
            </a:r>
            <a:r>
              <a:rPr lang="en-US" sz="1200" i="1" dirty="0" err="1"/>
              <a:t>SystemVerilog</a:t>
            </a:r>
            <a:r>
              <a:rPr lang="en-US" sz="1200" i="1" dirty="0"/>
              <a:t>—Unified Hardware Design, Specification, and Verification Language</a:t>
            </a:r>
            <a:r>
              <a:rPr lang="en-US" sz="1200" dirty="0"/>
              <a:t>, IEEE Std 1800-2017. Piscataway, NJ, USA: IEEE, 2017.</a:t>
            </a:r>
          </a:p>
          <a:p>
            <a:r>
              <a:rPr lang="en-US" sz="1200" dirty="0"/>
              <a:t>[9] National Institute of Standards and Technology (NIST), </a:t>
            </a:r>
            <a:r>
              <a:rPr lang="en-US" sz="1200" i="1" dirty="0"/>
              <a:t>Framework for Improving Critical Infrastructure Cybersecurity</a:t>
            </a:r>
            <a:r>
              <a:rPr lang="en-US" sz="1200" dirty="0"/>
              <a:t>, Version 1.1. Gaithersburg, MD, USA: NIST, 2018.</a:t>
            </a:r>
          </a:p>
          <a:p>
            <a:r>
              <a:rPr lang="en-US" sz="1200" dirty="0"/>
              <a:t>[10] N. Dave, K. Fleming, M. King, M. </a:t>
            </a:r>
            <a:r>
              <a:rPr lang="en-US" sz="1200" dirty="0" err="1"/>
              <a:t>Pellauer</a:t>
            </a:r>
            <a:r>
              <a:rPr lang="en-US" sz="1200" dirty="0"/>
              <a:t>, and M. Vijayaraghavan, “Hardware acceleration of matrix multiplication on a Xilinx FPGA,” in </a:t>
            </a:r>
            <a:r>
              <a:rPr lang="en-US" sz="1200" i="1" dirty="0"/>
              <a:t>Proc. IEEE Int. Workshop on Memory System Performance and Correctness (MEMPOD)</a:t>
            </a:r>
            <a:r>
              <a:rPr lang="en-US" sz="1200" dirty="0"/>
              <a:t>, May 2007, pp. 97–100, </a:t>
            </a:r>
            <a:r>
              <a:rPr lang="en-US" sz="1200" dirty="0" err="1"/>
              <a:t>doi</a:t>
            </a:r>
            <a:r>
              <a:rPr lang="en-US" sz="1200" dirty="0"/>
              <a:t>: 10.1109/MEMCOD.2007.371239.</a:t>
            </a:r>
          </a:p>
          <a:p>
            <a:r>
              <a:rPr lang="en-US" sz="1200" dirty="0"/>
              <a:t>[11] A. Peiris, “Digital design of systolic array architecture for matrix multiplication,” </a:t>
            </a:r>
            <a:r>
              <a:rPr lang="en-US" sz="1200" i="1" dirty="0"/>
              <a:t>Ashan’s Blog</a:t>
            </a:r>
            <a:r>
              <a:rPr lang="en-US" sz="1200" dirty="0"/>
              <a:t>, Aug. 1, 2015. [Online]. Available: </a:t>
            </a:r>
            <a:r>
              <a:rPr lang="en-US" sz="1200" dirty="0">
                <a:hlinkClick r:id="rId10"/>
              </a:rPr>
              <a:t>https://ashanpeiris.blogspot.com/2015/08/digital-design-of-systolic-array.html</a:t>
            </a:r>
            <a:r>
              <a:rPr lang="en-US" sz="1200" dirty="0"/>
              <a:t>. [Accessed: Dec. 18, 2025].</a:t>
            </a:r>
          </a:p>
          <a:p>
            <a:endParaRPr lang="en-US" dirty="0"/>
          </a:p>
        </p:txBody>
      </p:sp>
      <p:sp>
        <p:nvSpPr>
          <p:cNvPr id="4" name="Date Placeholder 3">
            <a:extLst>
              <a:ext uri="{FF2B5EF4-FFF2-40B4-BE49-F238E27FC236}">
                <a16:creationId xmlns:a16="http://schemas.microsoft.com/office/drawing/2014/main" id="{69056C87-A0D1-C48F-67F2-2E3449ED0A0F}"/>
              </a:ext>
            </a:extLst>
          </p:cNvPr>
          <p:cNvSpPr>
            <a:spLocks noGrp="1"/>
          </p:cNvSpPr>
          <p:nvPr>
            <p:ph type="dt" sz="half" idx="10"/>
          </p:nvPr>
        </p:nvSpPr>
        <p:spPr/>
        <p:txBody>
          <a:bodyPr/>
          <a:lstStyle/>
          <a:p>
            <a:fld id="{30A3FC0C-66F9-471A-8D52-049E23E3327C}" type="datetime1">
              <a:rPr lang="en-US" smtClean="0"/>
              <a:t>5/4/2026</a:t>
            </a:fld>
            <a:endParaRPr lang="en-US"/>
          </a:p>
        </p:txBody>
      </p:sp>
      <p:sp>
        <p:nvSpPr>
          <p:cNvPr id="5" name="Slide Number Placeholder 4">
            <a:extLst>
              <a:ext uri="{FF2B5EF4-FFF2-40B4-BE49-F238E27FC236}">
                <a16:creationId xmlns:a16="http://schemas.microsoft.com/office/drawing/2014/main" id="{8A900A2B-6871-BA85-7603-CD31F7F47136}"/>
              </a:ext>
            </a:extLst>
          </p:cNvPr>
          <p:cNvSpPr>
            <a:spLocks noGrp="1"/>
          </p:cNvSpPr>
          <p:nvPr>
            <p:ph type="sldNum" sz="quarter" idx="12"/>
          </p:nvPr>
        </p:nvSpPr>
        <p:spPr/>
        <p:txBody>
          <a:bodyPr/>
          <a:lstStyle/>
          <a:p>
            <a:fld id="{AEAA3239-9EA4-4A65-A281-97F994456D9F}" type="slidenum">
              <a:rPr lang="en-US" smtClean="0"/>
              <a:t>16</a:t>
            </a:fld>
            <a:endParaRPr lang="en-US"/>
          </a:p>
        </p:txBody>
      </p:sp>
    </p:spTree>
    <p:extLst>
      <p:ext uri="{BB962C8B-B14F-4D97-AF65-F5344CB8AC3E}">
        <p14:creationId xmlns:p14="http://schemas.microsoft.com/office/powerpoint/2010/main" val="2222847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D6C6466-9F21-FF3F-902E-AB1C87A89578}"/>
              </a:ext>
            </a:extLst>
          </p:cNvPr>
          <p:cNvSpPr>
            <a:spLocks noGrp="1"/>
          </p:cNvSpPr>
          <p:nvPr>
            <p:ph type="ctrTitle"/>
          </p:nvPr>
        </p:nvSpPr>
        <p:spPr/>
        <p:txBody>
          <a:bodyPr/>
          <a:lstStyle/>
          <a:p>
            <a:r>
              <a:rPr lang="en-US" dirty="0"/>
              <a:t>Thank </a:t>
            </a:r>
            <a:br>
              <a:rPr lang="en-US" dirty="0"/>
            </a:br>
            <a:r>
              <a:rPr lang="en-US" dirty="0"/>
              <a:t>You!</a:t>
            </a:r>
          </a:p>
        </p:txBody>
      </p:sp>
      <p:sp>
        <p:nvSpPr>
          <p:cNvPr id="10" name="Subtitle 9">
            <a:extLst>
              <a:ext uri="{FF2B5EF4-FFF2-40B4-BE49-F238E27FC236}">
                <a16:creationId xmlns:a16="http://schemas.microsoft.com/office/drawing/2014/main" id="{368C07FB-C7C8-77DB-55FD-C2B255E7A9F8}"/>
              </a:ext>
            </a:extLst>
          </p:cNvPr>
          <p:cNvSpPr>
            <a:spLocks noGrp="1"/>
          </p:cNvSpPr>
          <p:nvPr>
            <p:ph type="subTitle" idx="1"/>
          </p:nvPr>
        </p:nvSpPr>
        <p:spPr/>
        <p:txBody>
          <a:bodyPr/>
          <a:lstStyle/>
          <a:p>
            <a:r>
              <a:rPr lang="en-US" dirty="0"/>
              <a:t>Any Questions?</a:t>
            </a:r>
          </a:p>
        </p:txBody>
      </p:sp>
      <p:sp>
        <p:nvSpPr>
          <p:cNvPr id="11" name="Date Placeholder 10">
            <a:extLst>
              <a:ext uri="{FF2B5EF4-FFF2-40B4-BE49-F238E27FC236}">
                <a16:creationId xmlns:a16="http://schemas.microsoft.com/office/drawing/2014/main" id="{B1F0E052-C067-D43F-0D6C-190A68C355EA}"/>
              </a:ext>
            </a:extLst>
          </p:cNvPr>
          <p:cNvSpPr>
            <a:spLocks noGrp="1"/>
          </p:cNvSpPr>
          <p:nvPr>
            <p:ph type="dt" sz="half" idx="10"/>
          </p:nvPr>
        </p:nvSpPr>
        <p:spPr/>
        <p:txBody>
          <a:bodyPr/>
          <a:lstStyle/>
          <a:p>
            <a:fld id="{5A54E35D-8AEA-4B48-BB11-17A7D2E239C7}" type="datetime1">
              <a:rPr lang="en-US" smtClean="0"/>
              <a:t>5/4/2026</a:t>
            </a:fld>
            <a:endParaRPr lang="en-US"/>
          </a:p>
        </p:txBody>
      </p:sp>
      <p:sp>
        <p:nvSpPr>
          <p:cNvPr id="12" name="Slide Number Placeholder 11">
            <a:extLst>
              <a:ext uri="{FF2B5EF4-FFF2-40B4-BE49-F238E27FC236}">
                <a16:creationId xmlns:a16="http://schemas.microsoft.com/office/drawing/2014/main" id="{FC1FC4D2-D9B2-05EF-826D-4F62B6E79835}"/>
              </a:ext>
            </a:extLst>
          </p:cNvPr>
          <p:cNvSpPr>
            <a:spLocks noGrp="1"/>
          </p:cNvSpPr>
          <p:nvPr>
            <p:ph type="sldNum" sz="quarter" idx="12"/>
          </p:nvPr>
        </p:nvSpPr>
        <p:spPr/>
        <p:txBody>
          <a:bodyPr/>
          <a:lstStyle/>
          <a:p>
            <a:fld id="{AEAA3239-9EA4-4A65-A281-97F994456D9F}" type="slidenum">
              <a:rPr lang="en-US" smtClean="0"/>
              <a:pPr/>
              <a:t>17</a:t>
            </a:fld>
            <a:endParaRPr lang="en-US"/>
          </a:p>
        </p:txBody>
      </p:sp>
    </p:spTree>
    <p:extLst>
      <p:ext uri="{BB962C8B-B14F-4D97-AF65-F5344CB8AC3E}">
        <p14:creationId xmlns:p14="http://schemas.microsoft.com/office/powerpoint/2010/main" val="2827590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5674-5107-8F16-ABC1-333F2FAF23EB}"/>
              </a:ext>
            </a:extLst>
          </p:cNvPr>
          <p:cNvSpPr>
            <a:spLocks noGrp="1"/>
          </p:cNvSpPr>
          <p:nvPr>
            <p:ph type="title"/>
          </p:nvPr>
        </p:nvSpPr>
        <p:spPr/>
        <p:txBody>
          <a:bodyPr/>
          <a:lstStyle/>
          <a:p>
            <a:r>
              <a:rPr lang="en-US" dirty="0"/>
              <a:t>Systolic Array Accelerator</a:t>
            </a:r>
          </a:p>
        </p:txBody>
      </p:sp>
      <p:sp>
        <p:nvSpPr>
          <p:cNvPr id="4" name="Date Placeholder 3">
            <a:extLst>
              <a:ext uri="{FF2B5EF4-FFF2-40B4-BE49-F238E27FC236}">
                <a16:creationId xmlns:a16="http://schemas.microsoft.com/office/drawing/2014/main" id="{99F8105C-D3E6-40F0-7EAD-16C83B7770CE}"/>
              </a:ext>
            </a:extLst>
          </p:cNvPr>
          <p:cNvSpPr>
            <a:spLocks noGrp="1"/>
          </p:cNvSpPr>
          <p:nvPr>
            <p:ph type="dt" sz="half" idx="10"/>
          </p:nvPr>
        </p:nvSpPr>
        <p:spPr/>
        <p:txBody>
          <a:bodyPr/>
          <a:lstStyle/>
          <a:p>
            <a:fld id="{5F5CDFF1-9AC1-4052-AC63-3D5B3E513E98}" type="datetime1">
              <a:rPr lang="en-US" smtClean="0"/>
              <a:t>5/4/2026</a:t>
            </a:fld>
            <a:endParaRPr lang="en-US"/>
          </a:p>
        </p:txBody>
      </p:sp>
      <p:sp>
        <p:nvSpPr>
          <p:cNvPr id="5" name="Slide Number Placeholder 4">
            <a:extLst>
              <a:ext uri="{FF2B5EF4-FFF2-40B4-BE49-F238E27FC236}">
                <a16:creationId xmlns:a16="http://schemas.microsoft.com/office/drawing/2014/main" id="{593872BB-FEB4-A8DC-EA5D-ACDC65CFFED4}"/>
              </a:ext>
            </a:extLst>
          </p:cNvPr>
          <p:cNvSpPr>
            <a:spLocks noGrp="1"/>
          </p:cNvSpPr>
          <p:nvPr>
            <p:ph type="sldNum" sz="quarter" idx="12"/>
          </p:nvPr>
        </p:nvSpPr>
        <p:spPr/>
        <p:txBody>
          <a:bodyPr/>
          <a:lstStyle/>
          <a:p>
            <a:fld id="{AEAA3239-9EA4-4A65-A281-97F994456D9F}" type="slidenum">
              <a:rPr lang="en-US" smtClean="0"/>
              <a:t>18</a:t>
            </a:fld>
            <a:endParaRPr lang="en-US"/>
          </a:p>
        </p:txBody>
      </p:sp>
      <p:pic>
        <p:nvPicPr>
          <p:cNvPr id="19" name="Picture 18">
            <a:extLst>
              <a:ext uri="{FF2B5EF4-FFF2-40B4-BE49-F238E27FC236}">
                <a16:creationId xmlns:a16="http://schemas.microsoft.com/office/drawing/2014/main" id="{A04152CA-EB08-1808-A3ED-9FB4912A56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088" y="1540092"/>
            <a:ext cx="6589825" cy="4851564"/>
          </a:xfrm>
          <a:prstGeom prst="rect">
            <a:avLst/>
          </a:prstGeom>
        </p:spPr>
      </p:pic>
      <p:pic>
        <p:nvPicPr>
          <p:cNvPr id="21" name="Picture 20">
            <a:extLst>
              <a:ext uri="{FF2B5EF4-FFF2-40B4-BE49-F238E27FC236}">
                <a16:creationId xmlns:a16="http://schemas.microsoft.com/office/drawing/2014/main" id="{A8FEAE72-BE1F-68F1-8F84-6C8974BD76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992" y="3026855"/>
            <a:ext cx="4934639" cy="2724530"/>
          </a:xfrm>
          <a:prstGeom prst="rect">
            <a:avLst/>
          </a:prstGeom>
        </p:spPr>
      </p:pic>
      <p:sp>
        <p:nvSpPr>
          <p:cNvPr id="22" name="TextBox 21">
            <a:extLst>
              <a:ext uri="{FF2B5EF4-FFF2-40B4-BE49-F238E27FC236}">
                <a16:creationId xmlns:a16="http://schemas.microsoft.com/office/drawing/2014/main" id="{0EF803AE-5416-B102-F794-CD8A8503D97E}"/>
              </a:ext>
            </a:extLst>
          </p:cNvPr>
          <p:cNvSpPr txBox="1"/>
          <p:nvPr/>
        </p:nvSpPr>
        <p:spPr>
          <a:xfrm>
            <a:off x="9025128" y="3493008"/>
            <a:ext cx="599844" cy="738664"/>
          </a:xfrm>
          <a:prstGeom prst="rect">
            <a:avLst/>
          </a:prstGeom>
          <a:noFill/>
        </p:spPr>
        <p:txBody>
          <a:bodyPr wrap="none" rtlCol="0">
            <a:spAutoFit/>
          </a:bodyPr>
          <a:lstStyle/>
          <a:p>
            <a:r>
              <a:rPr lang="en-US" sz="1400" dirty="0"/>
              <a:t>  1*2</a:t>
            </a:r>
          </a:p>
          <a:p>
            <a:r>
              <a:rPr lang="en-US" sz="1400" dirty="0"/>
              <a:t>+ 2*4</a:t>
            </a:r>
          </a:p>
          <a:p>
            <a:r>
              <a:rPr lang="en-US" sz="1400" dirty="0"/>
              <a:t>+ 3*6</a:t>
            </a:r>
          </a:p>
        </p:txBody>
      </p:sp>
      <p:sp>
        <p:nvSpPr>
          <p:cNvPr id="23" name="TextBox 22">
            <a:extLst>
              <a:ext uri="{FF2B5EF4-FFF2-40B4-BE49-F238E27FC236}">
                <a16:creationId xmlns:a16="http://schemas.microsoft.com/office/drawing/2014/main" id="{3D4B87F5-4C0C-E4A0-1999-89C2F6D3992D}"/>
              </a:ext>
            </a:extLst>
          </p:cNvPr>
          <p:cNvSpPr txBox="1"/>
          <p:nvPr/>
        </p:nvSpPr>
        <p:spPr>
          <a:xfrm>
            <a:off x="9954768" y="3499104"/>
            <a:ext cx="599844" cy="738664"/>
          </a:xfrm>
          <a:prstGeom prst="rect">
            <a:avLst/>
          </a:prstGeom>
          <a:noFill/>
        </p:spPr>
        <p:txBody>
          <a:bodyPr wrap="none" rtlCol="0">
            <a:spAutoFit/>
          </a:bodyPr>
          <a:lstStyle/>
          <a:p>
            <a:r>
              <a:rPr lang="en-US" sz="1400" dirty="0"/>
              <a:t>  1*1</a:t>
            </a:r>
          </a:p>
          <a:p>
            <a:r>
              <a:rPr lang="en-US" sz="1400" dirty="0"/>
              <a:t>+ 2*5</a:t>
            </a:r>
          </a:p>
          <a:p>
            <a:r>
              <a:rPr lang="en-US" sz="1400" dirty="0"/>
              <a:t>+ 3*9</a:t>
            </a:r>
          </a:p>
        </p:txBody>
      </p:sp>
      <p:sp>
        <p:nvSpPr>
          <p:cNvPr id="25" name="TextBox 24">
            <a:extLst>
              <a:ext uri="{FF2B5EF4-FFF2-40B4-BE49-F238E27FC236}">
                <a16:creationId xmlns:a16="http://schemas.microsoft.com/office/drawing/2014/main" id="{82F74E6E-0453-7E05-6F28-E83B79367008}"/>
              </a:ext>
            </a:extLst>
          </p:cNvPr>
          <p:cNvSpPr txBox="1"/>
          <p:nvPr/>
        </p:nvSpPr>
        <p:spPr>
          <a:xfrm>
            <a:off x="9012936" y="4523232"/>
            <a:ext cx="599844" cy="738664"/>
          </a:xfrm>
          <a:prstGeom prst="rect">
            <a:avLst/>
          </a:prstGeom>
          <a:noFill/>
        </p:spPr>
        <p:txBody>
          <a:bodyPr wrap="none" rtlCol="0">
            <a:spAutoFit/>
          </a:bodyPr>
          <a:lstStyle/>
          <a:p>
            <a:r>
              <a:rPr lang="en-US" sz="1400" dirty="0"/>
              <a:t>  4*2</a:t>
            </a:r>
          </a:p>
          <a:p>
            <a:r>
              <a:rPr lang="en-US" sz="1400" dirty="0"/>
              <a:t>+ 5*4</a:t>
            </a:r>
          </a:p>
          <a:p>
            <a:r>
              <a:rPr lang="en-US" sz="1400" dirty="0"/>
              <a:t>+ 6*6</a:t>
            </a:r>
          </a:p>
        </p:txBody>
      </p:sp>
    </p:spTree>
    <p:extLst>
      <p:ext uri="{BB962C8B-B14F-4D97-AF65-F5344CB8AC3E}">
        <p14:creationId xmlns:p14="http://schemas.microsoft.com/office/powerpoint/2010/main" val="386149212"/>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3B381C-6232-408C-B65A-8475398E4C3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EA42C18-4C38-43BB-8CE3-C963EDA9CBBA}">
  <ds:schemaRefs>
    <ds:schemaRef ds:uri="http://www.w3.org/XML/1998/namespace"/>
    <ds:schemaRef ds:uri="http://schemas.microsoft.com/sharepoint/v3"/>
    <ds:schemaRef ds:uri="http://purl.org/dc/dcmitype/"/>
    <ds:schemaRef ds:uri="http://schemas.microsoft.com/office/2006/metadata/properties"/>
    <ds:schemaRef ds:uri="http://purl.org/dc/terms/"/>
    <ds:schemaRef ds:uri="230e9df3-be65-4c73-a93b-d1236ebd677e"/>
    <ds:schemaRef ds:uri="http://purl.org/dc/elements/1.1/"/>
    <ds:schemaRef ds:uri="71af3243-3dd4-4a8d-8c0d-dd76da1f02a5"/>
    <ds:schemaRef ds:uri="http://schemas.microsoft.com/office/2006/documentManagement/types"/>
    <ds:schemaRef ds:uri="16c05727-aa75-4e4a-9b5f-8a80a116589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 id="{96b947f8-b97d-4e5e-aeef-1a880b49c251}" enabled="0" method="" siteId="{96b947f8-b97d-4e5e-aeef-1a880b49c251}" removed="1"/>
</clbl:labelList>
</file>

<file path=docProps/app.xml><?xml version="1.0" encoding="utf-8"?>
<Properties xmlns="http://schemas.openxmlformats.org/officeDocument/2006/extended-properties" xmlns:vt="http://schemas.openxmlformats.org/officeDocument/2006/docPropsVTypes">
  <Template>Senior Project Final Presentation</Template>
  <TotalTime>5023</TotalTime>
  <Words>1757</Words>
  <Application>Microsoft Office PowerPoint</Application>
  <PresentationFormat>Widescreen</PresentationFormat>
  <Paragraphs>259</Paragraphs>
  <Slides>18</Slides>
  <Notes>13</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Aptos</vt:lpstr>
      <vt:lpstr>Aptos Light</vt:lpstr>
      <vt:lpstr>Arial</vt:lpstr>
      <vt:lpstr>Arial,Sans-Serif</vt:lpstr>
      <vt:lpstr>Bahnschrift SemiLight</vt:lpstr>
      <vt:lpstr>Calibri</vt:lpstr>
      <vt:lpstr>Calibri,Sans-Serif</vt:lpstr>
      <vt:lpstr>Courier New</vt:lpstr>
      <vt:lpstr>Wingdings</vt:lpstr>
      <vt:lpstr>Blockwork elegance</vt:lpstr>
      <vt:lpstr>FPGA-Based SoC Platform for Prototyping and Evaluation</vt:lpstr>
      <vt:lpstr>About Us</vt:lpstr>
      <vt:lpstr>Agenda</vt:lpstr>
      <vt:lpstr>Background</vt:lpstr>
      <vt:lpstr>Project Goals</vt:lpstr>
      <vt:lpstr>metrics</vt:lpstr>
      <vt:lpstr>Design choices</vt:lpstr>
      <vt:lpstr>MULTICORE</vt:lpstr>
      <vt:lpstr>Accelerator</vt:lpstr>
      <vt:lpstr>Block Diagram: Simplified</vt:lpstr>
      <vt:lpstr>Detailed Block Diagram </vt:lpstr>
      <vt:lpstr>Testing</vt:lpstr>
      <vt:lpstr>Testing Algorithm</vt:lpstr>
      <vt:lpstr>Results</vt:lpstr>
      <vt:lpstr>Conclusions</vt:lpstr>
      <vt:lpstr>References</vt:lpstr>
      <vt:lpstr>Thank  You!</vt:lpstr>
      <vt:lpstr>Systolic Array Accelerator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Brenden M Moran</dc:creator>
  <cp:lastModifiedBy>Brenden M Moran</cp:lastModifiedBy>
  <cp:revision>3</cp:revision>
  <dcterms:created xsi:type="dcterms:W3CDTF">2026-04-30T17:08:45Z</dcterms:created>
  <dcterms:modified xsi:type="dcterms:W3CDTF">2026-05-04T18:27:39Z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